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TAN St. Canard" charset="1" panose="00000000000000000000"/>
      <p:regular r:id="rId16"/>
    </p:embeddedFont>
    <p:embeddedFont>
      <p:font typeface="Red Hat Display" charset="1" panose="02010503040201060303"/>
      <p:regular r:id="rId17"/>
    </p:embeddedFont>
    <p:embeddedFont>
      <p:font typeface="Red Hat Display Bold" charset="1" panose="02010803040201060303"/>
      <p:regular r:id="rId18"/>
    </p:embeddedFont>
    <p:embeddedFont>
      <p:font typeface="Inter Bold" charset="1" panose="020B0802030000000004"/>
      <p:regular r:id="rId19"/>
    </p:embeddedFont>
    <p:embeddedFont>
      <p:font typeface="Red Hat Display Bold Italics" charset="1" panose="020108030402010D0303"/>
      <p:regular r:id="rId20"/>
    </p:embeddedFont>
    <p:embeddedFont>
      <p:font typeface="TT Rounds Condensed Bold" charset="1" panose="02000806030000020003"/>
      <p:regular r:id="rId21"/>
    </p:embeddedFont>
    <p:embeddedFont>
      <p:font typeface="Times New Roman Bold" charset="1" panose="02020803070505020304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10.jpe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png" Type="http://schemas.openxmlformats.org/officeDocument/2006/relationships/image"/><Relationship Id="rId4" Target="../media/image1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svg" Type="http://schemas.openxmlformats.org/officeDocument/2006/relationships/image"/><Relationship Id="rId4" Target="../media/image2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0.svg" Type="http://schemas.openxmlformats.org/officeDocument/2006/relationships/image"/><Relationship Id="rId11" Target="../media/image31.png" Type="http://schemas.openxmlformats.org/officeDocument/2006/relationships/image"/><Relationship Id="rId12" Target="../media/image32.svg" Type="http://schemas.openxmlformats.org/officeDocument/2006/relationships/image"/><Relationship Id="rId13" Target="../media/image33.png" Type="http://schemas.openxmlformats.org/officeDocument/2006/relationships/image"/><Relationship Id="rId14" Target="../media/image34.svg" Type="http://schemas.openxmlformats.org/officeDocument/2006/relationships/image"/><Relationship Id="rId15" Target="../media/image35.png" Type="http://schemas.openxmlformats.org/officeDocument/2006/relationships/image"/><Relationship Id="rId16" Target="../media/image36.svg" Type="http://schemas.openxmlformats.org/officeDocument/2006/relationships/image"/><Relationship Id="rId17" Target="../media/image37.png" Type="http://schemas.openxmlformats.org/officeDocument/2006/relationships/image"/><Relationship Id="rId18" Target="../media/image38.png" Type="http://schemas.openxmlformats.org/officeDocument/2006/relationships/image"/><Relationship Id="rId19" Target="../media/image39.png" Type="http://schemas.openxmlformats.org/officeDocument/2006/relationships/image"/><Relationship Id="rId2" Target="../media/image22.jpeg" Type="http://schemas.openxmlformats.org/officeDocument/2006/relationships/image"/><Relationship Id="rId3" Target="../media/image23.png" Type="http://schemas.openxmlformats.org/officeDocument/2006/relationships/image"/><Relationship Id="rId4" Target="../media/image24.svg" Type="http://schemas.openxmlformats.org/officeDocument/2006/relationships/image"/><Relationship Id="rId5" Target="../media/image25.png" Type="http://schemas.openxmlformats.org/officeDocument/2006/relationships/image"/><Relationship Id="rId6" Target="../media/image26.svg" Type="http://schemas.openxmlformats.org/officeDocument/2006/relationships/image"/><Relationship Id="rId7" Target="../media/image27.png" Type="http://schemas.openxmlformats.org/officeDocument/2006/relationships/image"/><Relationship Id="rId8" Target="../media/image28.svg" Type="http://schemas.openxmlformats.org/officeDocument/2006/relationships/image"/><Relationship Id="rId9" Target="../media/image2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Relationship Id="rId3" Target="../media/image30.svg" Type="http://schemas.openxmlformats.org/officeDocument/2006/relationships/image"/><Relationship Id="rId4" Target="../media/image4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1.png" Type="http://schemas.openxmlformats.org/officeDocument/2006/relationships/image"/><Relationship Id="rId3" Target="../media/image42.jpeg" Type="http://schemas.openxmlformats.org/officeDocument/2006/relationships/image"/><Relationship Id="rId4" Target="../media/image43.png" Type="http://schemas.openxmlformats.org/officeDocument/2006/relationships/image"/><Relationship Id="rId5" Target="../media/image44.svg" Type="http://schemas.openxmlformats.org/officeDocument/2006/relationships/image"/><Relationship Id="rId6" Target="../media/image45.png" Type="http://schemas.openxmlformats.org/officeDocument/2006/relationships/image"/><Relationship Id="rId7" Target="../media/image46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7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4AD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3075470"/>
            <a:ext cx="8686800" cy="6906730"/>
            <a:chOff x="0" y="0"/>
            <a:chExt cx="11582400" cy="920897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582400" cy="9209024"/>
            </a:xfrm>
            <a:custGeom>
              <a:avLst/>
              <a:gdLst/>
              <a:ahLst/>
              <a:cxnLst/>
              <a:rect r="r" b="b" t="t" l="l"/>
              <a:pathLst>
                <a:path h="9209024" w="11582400">
                  <a:moveTo>
                    <a:pt x="0" y="0"/>
                  </a:moveTo>
                  <a:lnTo>
                    <a:pt x="11582400" y="0"/>
                  </a:lnTo>
                  <a:lnTo>
                    <a:pt x="11582400" y="9209024"/>
                  </a:lnTo>
                  <a:lnTo>
                    <a:pt x="0" y="92090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9631" t="0" r="-963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737837" y="9385478"/>
            <a:ext cx="1557080" cy="901522"/>
            <a:chOff x="0" y="0"/>
            <a:chExt cx="1557084" cy="90152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55756" cy="901575"/>
            </a:xfrm>
            <a:custGeom>
              <a:avLst/>
              <a:gdLst/>
              <a:ahLst/>
              <a:cxnLst/>
              <a:rect r="r" b="b" t="t" l="l"/>
              <a:pathLst>
                <a:path h="901575" w="1555756">
                  <a:moveTo>
                    <a:pt x="0" y="0"/>
                  </a:moveTo>
                  <a:lnTo>
                    <a:pt x="0" y="901575"/>
                  </a:lnTo>
                  <a:lnTo>
                    <a:pt x="1555756" y="901575"/>
                  </a:lnTo>
                  <a:lnTo>
                    <a:pt x="1555756" y="0"/>
                  </a:lnTo>
                  <a:close/>
                </a:path>
              </a:pathLst>
            </a:custGeom>
            <a:solidFill>
              <a:srgbClr val="FF9DDD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1682860" y="2510066"/>
            <a:ext cx="2188416" cy="2188416"/>
          </a:xfrm>
          <a:custGeom>
            <a:avLst/>
            <a:gdLst/>
            <a:ahLst/>
            <a:cxnLst/>
            <a:rect r="r" b="b" t="t" l="l"/>
            <a:pathLst>
              <a:path h="2188416" w="2188416">
                <a:moveTo>
                  <a:pt x="0" y="0"/>
                </a:moveTo>
                <a:lnTo>
                  <a:pt x="2188417" y="0"/>
                </a:lnTo>
                <a:lnTo>
                  <a:pt x="2188417" y="2188416"/>
                </a:lnTo>
                <a:lnTo>
                  <a:pt x="0" y="218841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548640" y="6091514"/>
            <a:ext cx="5834986" cy="1556385"/>
            <a:chOff x="0" y="0"/>
            <a:chExt cx="5834990" cy="155638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835019" cy="1556385"/>
            </a:xfrm>
            <a:custGeom>
              <a:avLst/>
              <a:gdLst/>
              <a:ahLst/>
              <a:cxnLst/>
              <a:rect r="r" b="b" t="t" l="l"/>
              <a:pathLst>
                <a:path h="1556385" w="5835019">
                  <a:moveTo>
                    <a:pt x="0" y="1556385"/>
                  </a:moveTo>
                  <a:lnTo>
                    <a:pt x="0" y="918210"/>
                  </a:lnTo>
                  <a:lnTo>
                    <a:pt x="0" y="0"/>
                  </a:lnTo>
                  <a:lnTo>
                    <a:pt x="5835019" y="0"/>
                  </a:lnTo>
                  <a:lnTo>
                    <a:pt x="5835019" y="918210"/>
                  </a:lnTo>
                  <a:lnTo>
                    <a:pt x="5440684" y="918210"/>
                  </a:lnTo>
                  <a:lnTo>
                    <a:pt x="5440684" y="1556385"/>
                  </a:lnTo>
                  <a:lnTo>
                    <a:pt x="0" y="1556385"/>
                  </a:lnTo>
                </a:path>
              </a:pathLst>
            </a:custGeom>
            <a:solidFill>
              <a:srgbClr val="84ADE8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1417589" y="2244795"/>
            <a:ext cx="2718978" cy="2718978"/>
            <a:chOff x="0" y="0"/>
            <a:chExt cx="2718981" cy="271898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718947" cy="2718947"/>
            </a:xfrm>
            <a:custGeom>
              <a:avLst/>
              <a:gdLst/>
              <a:ahLst/>
              <a:cxnLst/>
              <a:rect r="r" b="b" t="t" l="l"/>
              <a:pathLst>
                <a:path h="2718947" w="2718947">
                  <a:moveTo>
                    <a:pt x="0" y="2718947"/>
                  </a:moveTo>
                  <a:lnTo>
                    <a:pt x="2718947" y="2718947"/>
                  </a:lnTo>
                  <a:lnTo>
                    <a:pt x="271894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776053" y="2629439"/>
            <a:ext cx="8020600" cy="325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00"/>
              </a:lnSpc>
            </a:pPr>
            <a:r>
              <a:rPr lang="en-US" sz="8407">
                <a:solidFill>
                  <a:srgbClr val="FCF1DB"/>
                </a:solidFill>
                <a:latin typeface="TAN St. Canard"/>
                <a:ea typeface="TAN St. Canard"/>
                <a:cs typeface="TAN St. Canard"/>
                <a:sym typeface="TAN St. Canard"/>
              </a:rPr>
              <a:t>MAMACARE  AI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32190" y="6389669"/>
            <a:ext cx="2863940" cy="1776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360"/>
              </a:lnSpc>
            </a:pPr>
          </a:p>
          <a:p>
            <a:pPr algn="l">
              <a:lnSpc>
                <a:spcPts val="1345"/>
              </a:lnSpc>
            </a:pPr>
            <a:r>
              <a:rPr lang="en-US" sz="2690">
                <a:solidFill>
                  <a:srgbClr val="FCF1DB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July </a:t>
            </a:r>
            <a:r>
              <a:rPr lang="en-US" sz="2690">
                <a:solidFill>
                  <a:srgbClr val="FCF1DB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2026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22665" y="6385881"/>
            <a:ext cx="8794937" cy="97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sz="2799" b="true">
                <a:solidFill>
                  <a:srgbClr val="FCF1DB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Supporting the pregancy to after-birth journey </a:t>
            </a:r>
          </a:p>
          <a:p>
            <a:pPr algn="l">
              <a:lnSpc>
                <a:spcPts val="3900"/>
              </a:lnSpc>
            </a:pPr>
            <a:r>
              <a:rPr lang="en-US" b="true" sz="2799">
                <a:solidFill>
                  <a:srgbClr val="FCF1DB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care with AI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14282" y="9532839"/>
            <a:ext cx="2902132" cy="378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35"/>
              </a:lnSpc>
            </a:pPr>
            <a:r>
              <a:rPr lang="en-US" b="true" sz="2752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Kasalite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832190" y="9399969"/>
            <a:ext cx="603025" cy="582231"/>
          </a:xfrm>
          <a:custGeom>
            <a:avLst/>
            <a:gdLst/>
            <a:ahLst/>
            <a:cxnLst/>
            <a:rect r="r" b="b" t="t" l="l"/>
            <a:pathLst>
              <a:path h="582231" w="603025">
                <a:moveTo>
                  <a:pt x="0" y="0"/>
                </a:moveTo>
                <a:lnTo>
                  <a:pt x="603025" y="0"/>
                </a:lnTo>
                <a:lnTo>
                  <a:pt x="603025" y="582231"/>
                </a:lnTo>
                <a:lnTo>
                  <a:pt x="0" y="58223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2531" t="-12980" r="-7703" b="-11549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2516921" y="4271600"/>
            <a:ext cx="1594155" cy="1566257"/>
            <a:chOff x="0" y="0"/>
            <a:chExt cx="2125540" cy="208834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25540" cy="2088343"/>
            </a:xfrm>
            <a:custGeom>
              <a:avLst/>
              <a:gdLst/>
              <a:ahLst/>
              <a:cxnLst/>
              <a:rect r="r" b="b" t="t" l="l"/>
              <a:pathLst>
                <a:path h="2088343" w="2125540">
                  <a:moveTo>
                    <a:pt x="0" y="0"/>
                  </a:moveTo>
                  <a:lnTo>
                    <a:pt x="2125540" y="0"/>
                  </a:lnTo>
                  <a:lnTo>
                    <a:pt x="2125540" y="2088343"/>
                  </a:lnTo>
                  <a:lnTo>
                    <a:pt x="0" y="20883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1059149" y="810012"/>
              <a:ext cx="712696" cy="634300"/>
            </a:xfrm>
            <a:custGeom>
              <a:avLst/>
              <a:gdLst/>
              <a:ahLst/>
              <a:cxnLst/>
              <a:rect r="r" b="b" t="t" l="l"/>
              <a:pathLst>
                <a:path h="634300" w="712696">
                  <a:moveTo>
                    <a:pt x="0" y="0"/>
                  </a:moveTo>
                  <a:lnTo>
                    <a:pt x="712696" y="0"/>
                  </a:lnTo>
                  <a:lnTo>
                    <a:pt x="712696" y="634300"/>
                  </a:lnTo>
                  <a:lnTo>
                    <a:pt x="0" y="634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1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88471" y="4204258"/>
            <a:ext cx="19343087" cy="2967587"/>
            <a:chOff x="0" y="0"/>
            <a:chExt cx="19343087" cy="29675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343088" cy="2967627"/>
            </a:xfrm>
            <a:custGeom>
              <a:avLst/>
              <a:gdLst/>
              <a:ahLst/>
              <a:cxnLst/>
              <a:rect r="r" b="b" t="t" l="l"/>
              <a:pathLst>
                <a:path h="2967627" w="19343088">
                  <a:moveTo>
                    <a:pt x="0" y="0"/>
                  </a:moveTo>
                  <a:lnTo>
                    <a:pt x="0" y="2967627"/>
                  </a:lnTo>
                  <a:lnTo>
                    <a:pt x="19343088" y="2967627"/>
                  </a:lnTo>
                  <a:lnTo>
                    <a:pt x="19343088" y="0"/>
                  </a:lnTo>
                  <a:close/>
                </a:path>
              </a:pathLst>
            </a:custGeom>
            <a:solidFill>
              <a:srgbClr val="FF943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097094" y="1959043"/>
            <a:ext cx="1557080" cy="1038054"/>
            <a:chOff x="0" y="0"/>
            <a:chExt cx="1557084" cy="103804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55756" cy="1038094"/>
            </a:xfrm>
            <a:custGeom>
              <a:avLst/>
              <a:gdLst/>
              <a:ahLst/>
              <a:cxnLst/>
              <a:rect r="r" b="b" t="t" l="l"/>
              <a:pathLst>
                <a:path h="1038094" w="1555756">
                  <a:moveTo>
                    <a:pt x="0" y="0"/>
                  </a:moveTo>
                  <a:lnTo>
                    <a:pt x="0" y="1038094"/>
                  </a:lnTo>
                  <a:lnTo>
                    <a:pt x="1555756" y="1038094"/>
                  </a:lnTo>
                  <a:lnTo>
                    <a:pt x="1555756" y="0"/>
                  </a:lnTo>
                  <a:close/>
                </a:path>
              </a:pathLst>
            </a:custGeom>
            <a:solidFill>
              <a:srgbClr val="FF9DDD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176867" y="-27871"/>
            <a:ext cx="4584723" cy="4405459"/>
            <a:chOff x="0" y="0"/>
            <a:chExt cx="6423936" cy="617275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423923" cy="6172708"/>
            </a:xfrm>
            <a:custGeom>
              <a:avLst/>
              <a:gdLst/>
              <a:ahLst/>
              <a:cxnLst/>
              <a:rect r="r" b="b" t="t" l="l"/>
              <a:pathLst>
                <a:path h="6172708" w="6423923">
                  <a:moveTo>
                    <a:pt x="0" y="0"/>
                  </a:moveTo>
                  <a:lnTo>
                    <a:pt x="6423923" y="0"/>
                  </a:lnTo>
                  <a:lnTo>
                    <a:pt x="6423923" y="6172708"/>
                  </a:lnTo>
                  <a:lnTo>
                    <a:pt x="0" y="61727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7959" t="-28198" r="-120254" b="-5396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485844" y="4439055"/>
            <a:ext cx="4616411" cy="2345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09"/>
              </a:lnSpc>
            </a:pPr>
            <a:r>
              <a:rPr lang="en-US" sz="7864">
                <a:solidFill>
                  <a:srgbClr val="000000"/>
                </a:solidFill>
                <a:latin typeface="TAN St. Canard"/>
                <a:ea typeface="TAN St. Canard"/>
                <a:cs typeface="TAN St. Canard"/>
                <a:sym typeface="TAN St. Canard"/>
              </a:rPr>
              <a:t>800+</a:t>
            </a:r>
            <a:r>
              <a:rPr lang="en-US" b="true" sz="7864">
                <a:solidFill>
                  <a:srgbClr val="000000"/>
                </a:solidFill>
                <a:latin typeface="TAN St. Canard"/>
                <a:ea typeface="TAN St. Canard"/>
                <a:cs typeface="TAN St. Canard"/>
                <a:sym typeface="TAN St. Canard"/>
              </a:rPr>
              <a:t> </a:t>
            </a:r>
          </a:p>
          <a:p>
            <a:pPr algn="l">
              <a:lnSpc>
                <a:spcPts val="3728"/>
              </a:lnSpc>
            </a:pPr>
          </a:p>
          <a:p>
            <a:pPr algn="l">
              <a:lnSpc>
                <a:spcPts val="3728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7304682" y="4543830"/>
            <a:ext cx="9426961" cy="1822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41"/>
              </a:lnSpc>
            </a:pPr>
            <a:r>
              <a:rPr lang="en-US" b="true" sz="3505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Maternal d</a:t>
            </a:r>
            <a:r>
              <a:rPr lang="en-US" b="true" sz="3505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eaths don’t happen at a single moment. They are the result of missed signals across the entire journey.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24957" y="490623"/>
            <a:ext cx="10641087" cy="782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04"/>
              </a:lnSpc>
            </a:pPr>
            <a:r>
              <a:rPr lang="en-US" sz="5056" spc="394">
                <a:solidFill>
                  <a:srgbClr val="FF6620"/>
                </a:solidFill>
                <a:latin typeface="TAN St. Canard"/>
                <a:ea typeface="TAN St. Canard"/>
                <a:cs typeface="TAN St. Canard"/>
                <a:sym typeface="TAN St. Canard"/>
              </a:rPr>
              <a:t>A</a:t>
            </a:r>
            <a:r>
              <a:rPr lang="en-US" b="true" sz="5056" spc="394">
                <a:solidFill>
                  <a:srgbClr val="FF6620"/>
                </a:solidFill>
                <a:latin typeface="TAN St. Canard"/>
                <a:ea typeface="TAN St. Canard"/>
                <a:cs typeface="TAN St. Canard"/>
                <a:sym typeface="TAN St. Canard"/>
              </a:rPr>
              <a:t> FRAGMENTED JOURNEY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24957" y="1672894"/>
            <a:ext cx="7956816" cy="1550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43"/>
              </a:lnSpc>
              <a:spcBef>
                <a:spcPct val="0"/>
              </a:spcBef>
            </a:pPr>
            <a:r>
              <a:rPr lang="en-US" b="true" sz="3000" i="true">
                <a:solidFill>
                  <a:srgbClr val="000000"/>
                </a:solidFill>
                <a:latin typeface="Red Hat Display Bold Italics"/>
                <a:ea typeface="Red Hat Display Bold Italics"/>
                <a:cs typeface="Red Hat Display Bold Italics"/>
                <a:sym typeface="Red Hat Display Bold Italics"/>
              </a:rPr>
              <a:t>Maternal deaths don’t happen at a single moment. They are the result of missed signals across the entire journey.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8895962" y="9617758"/>
            <a:ext cx="1556356" cy="1038054"/>
            <a:chOff x="0" y="0"/>
            <a:chExt cx="1556360" cy="103804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555753" cy="1038093"/>
            </a:xfrm>
            <a:custGeom>
              <a:avLst/>
              <a:gdLst/>
              <a:ahLst/>
              <a:cxnLst/>
              <a:rect r="r" b="b" t="t" l="l"/>
              <a:pathLst>
                <a:path h="1038093" w="1555753">
                  <a:moveTo>
                    <a:pt x="0" y="0"/>
                  </a:moveTo>
                  <a:lnTo>
                    <a:pt x="0" y="1038093"/>
                  </a:lnTo>
                  <a:lnTo>
                    <a:pt x="1555753" y="1038093"/>
                  </a:lnTo>
                  <a:lnTo>
                    <a:pt x="1555753" y="0"/>
                  </a:lnTo>
                  <a:close/>
                </a:path>
              </a:pathLst>
            </a:custGeom>
            <a:solidFill>
              <a:srgbClr val="FF9DDD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770475" y="6784649"/>
            <a:ext cx="3708560" cy="3582606"/>
            <a:chOff x="0" y="0"/>
            <a:chExt cx="8799843" cy="850097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799830" cy="8500999"/>
            </a:xfrm>
            <a:custGeom>
              <a:avLst/>
              <a:gdLst/>
              <a:ahLst/>
              <a:cxnLst/>
              <a:rect r="r" b="b" t="t" l="l"/>
              <a:pathLst>
                <a:path h="8500999" w="8799830">
                  <a:moveTo>
                    <a:pt x="0" y="0"/>
                  </a:moveTo>
                  <a:lnTo>
                    <a:pt x="8799830" y="0"/>
                  </a:lnTo>
                  <a:lnTo>
                    <a:pt x="8799830" y="8500999"/>
                  </a:lnTo>
                  <a:lnTo>
                    <a:pt x="0" y="85009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2691" r="0" b="-32777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444311" y="5825714"/>
            <a:ext cx="6718336" cy="864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women die every day from preventable </a:t>
            </a:r>
          </a:p>
          <a:p>
            <a:pPr algn="l">
              <a:lnSpc>
                <a:spcPts val="346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causes related to pregnancy and childbirth.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410312" y="7568536"/>
            <a:ext cx="616026" cy="656617"/>
          </a:xfrm>
          <a:custGeom>
            <a:avLst/>
            <a:gdLst/>
            <a:ahLst/>
            <a:cxnLst/>
            <a:rect r="r" b="b" t="t" l="l"/>
            <a:pathLst>
              <a:path h="656617" w="616026">
                <a:moveTo>
                  <a:pt x="0" y="0"/>
                </a:moveTo>
                <a:lnTo>
                  <a:pt x="616027" y="0"/>
                </a:lnTo>
                <a:lnTo>
                  <a:pt x="616027" y="656617"/>
                </a:lnTo>
                <a:lnTo>
                  <a:pt x="0" y="6566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2096549" y="7568536"/>
            <a:ext cx="616026" cy="656617"/>
          </a:xfrm>
          <a:custGeom>
            <a:avLst/>
            <a:gdLst/>
            <a:ahLst/>
            <a:cxnLst/>
            <a:rect r="r" b="b" t="t" l="l"/>
            <a:pathLst>
              <a:path h="656617" w="616026">
                <a:moveTo>
                  <a:pt x="0" y="0"/>
                </a:moveTo>
                <a:lnTo>
                  <a:pt x="616026" y="0"/>
                </a:lnTo>
                <a:lnTo>
                  <a:pt x="616026" y="656617"/>
                </a:lnTo>
                <a:lnTo>
                  <a:pt x="0" y="65661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2782785" y="7568536"/>
            <a:ext cx="616026" cy="656617"/>
          </a:xfrm>
          <a:custGeom>
            <a:avLst/>
            <a:gdLst/>
            <a:ahLst/>
            <a:cxnLst/>
            <a:rect r="r" b="b" t="t" l="l"/>
            <a:pathLst>
              <a:path h="656617" w="616026">
                <a:moveTo>
                  <a:pt x="0" y="0"/>
                </a:moveTo>
                <a:lnTo>
                  <a:pt x="616026" y="0"/>
                </a:lnTo>
                <a:lnTo>
                  <a:pt x="616026" y="656617"/>
                </a:lnTo>
                <a:lnTo>
                  <a:pt x="0" y="65661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485844" y="8257929"/>
            <a:ext cx="3837435" cy="1751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48"/>
              </a:lnSpc>
            </a:pPr>
            <a:r>
              <a:rPr lang="en-US" b="true" sz="3193" spc="-19">
                <a:solidFill>
                  <a:srgbClr val="000000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1 in 3 women in rural Sub-Saharan Africa has mobile internet.</a:t>
            </a:r>
          </a:p>
          <a:p>
            <a:pPr algn="ctr">
              <a:lnSpc>
                <a:spcPts val="3448"/>
              </a:lnSpc>
              <a:spcBef>
                <a:spcPct val="0"/>
              </a:spcBef>
            </a:pP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4746335" y="7546394"/>
            <a:ext cx="602618" cy="642325"/>
          </a:xfrm>
          <a:custGeom>
            <a:avLst/>
            <a:gdLst/>
            <a:ahLst/>
            <a:cxnLst/>
            <a:rect r="r" b="b" t="t" l="l"/>
            <a:pathLst>
              <a:path h="642325" w="602618">
                <a:moveTo>
                  <a:pt x="0" y="0"/>
                </a:moveTo>
                <a:lnTo>
                  <a:pt x="602618" y="0"/>
                </a:lnTo>
                <a:lnTo>
                  <a:pt x="602618" y="642325"/>
                </a:lnTo>
                <a:lnTo>
                  <a:pt x="0" y="6423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6799253" y="7546394"/>
            <a:ext cx="602618" cy="642325"/>
          </a:xfrm>
          <a:custGeom>
            <a:avLst/>
            <a:gdLst/>
            <a:ahLst/>
            <a:cxnLst/>
            <a:rect r="r" b="b" t="t" l="l"/>
            <a:pathLst>
              <a:path h="642325" w="602618">
                <a:moveTo>
                  <a:pt x="0" y="0"/>
                </a:moveTo>
                <a:lnTo>
                  <a:pt x="602618" y="0"/>
                </a:lnTo>
                <a:lnTo>
                  <a:pt x="602618" y="642325"/>
                </a:lnTo>
                <a:lnTo>
                  <a:pt x="0" y="6423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4702724" y="8339949"/>
            <a:ext cx="602618" cy="642325"/>
          </a:xfrm>
          <a:custGeom>
            <a:avLst/>
            <a:gdLst/>
            <a:ahLst/>
            <a:cxnLst/>
            <a:rect r="r" b="b" t="t" l="l"/>
            <a:pathLst>
              <a:path h="642325" w="602618">
                <a:moveTo>
                  <a:pt x="0" y="0"/>
                </a:moveTo>
                <a:lnTo>
                  <a:pt x="602618" y="0"/>
                </a:lnTo>
                <a:lnTo>
                  <a:pt x="602618" y="642326"/>
                </a:lnTo>
                <a:lnTo>
                  <a:pt x="0" y="6423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6799253" y="8365878"/>
            <a:ext cx="602618" cy="642325"/>
          </a:xfrm>
          <a:custGeom>
            <a:avLst/>
            <a:gdLst/>
            <a:ahLst/>
            <a:cxnLst/>
            <a:rect r="r" b="b" t="t" l="l"/>
            <a:pathLst>
              <a:path h="642325" w="602618">
                <a:moveTo>
                  <a:pt x="0" y="0"/>
                </a:moveTo>
                <a:lnTo>
                  <a:pt x="602618" y="0"/>
                </a:lnTo>
                <a:lnTo>
                  <a:pt x="602618" y="642325"/>
                </a:lnTo>
                <a:lnTo>
                  <a:pt x="0" y="64232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5417634" y="7546394"/>
            <a:ext cx="602618" cy="642325"/>
          </a:xfrm>
          <a:custGeom>
            <a:avLst/>
            <a:gdLst/>
            <a:ahLst/>
            <a:cxnLst/>
            <a:rect r="r" b="b" t="t" l="l"/>
            <a:pathLst>
              <a:path h="642325" w="602618">
                <a:moveTo>
                  <a:pt x="0" y="0"/>
                </a:moveTo>
                <a:lnTo>
                  <a:pt x="602618" y="0"/>
                </a:lnTo>
                <a:lnTo>
                  <a:pt x="602618" y="642325"/>
                </a:lnTo>
                <a:lnTo>
                  <a:pt x="0" y="6423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7470552" y="7546394"/>
            <a:ext cx="602618" cy="642325"/>
          </a:xfrm>
          <a:custGeom>
            <a:avLst/>
            <a:gdLst/>
            <a:ahLst/>
            <a:cxnLst/>
            <a:rect r="r" b="b" t="t" l="l"/>
            <a:pathLst>
              <a:path h="642325" w="602618">
                <a:moveTo>
                  <a:pt x="0" y="0"/>
                </a:moveTo>
                <a:lnTo>
                  <a:pt x="602618" y="0"/>
                </a:lnTo>
                <a:lnTo>
                  <a:pt x="602618" y="642325"/>
                </a:lnTo>
                <a:lnTo>
                  <a:pt x="0" y="6423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5374024" y="8339949"/>
            <a:ext cx="602618" cy="642325"/>
          </a:xfrm>
          <a:custGeom>
            <a:avLst/>
            <a:gdLst/>
            <a:ahLst/>
            <a:cxnLst/>
            <a:rect r="r" b="b" t="t" l="l"/>
            <a:pathLst>
              <a:path h="642325" w="602618">
                <a:moveTo>
                  <a:pt x="0" y="0"/>
                </a:moveTo>
                <a:lnTo>
                  <a:pt x="602618" y="0"/>
                </a:lnTo>
                <a:lnTo>
                  <a:pt x="602618" y="642326"/>
                </a:lnTo>
                <a:lnTo>
                  <a:pt x="0" y="6423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6088934" y="7546394"/>
            <a:ext cx="602618" cy="642325"/>
          </a:xfrm>
          <a:custGeom>
            <a:avLst/>
            <a:gdLst/>
            <a:ahLst/>
            <a:cxnLst/>
            <a:rect r="r" b="b" t="t" l="l"/>
            <a:pathLst>
              <a:path h="642325" w="602618">
                <a:moveTo>
                  <a:pt x="0" y="0"/>
                </a:moveTo>
                <a:lnTo>
                  <a:pt x="602618" y="0"/>
                </a:lnTo>
                <a:lnTo>
                  <a:pt x="602618" y="642325"/>
                </a:lnTo>
                <a:lnTo>
                  <a:pt x="0" y="6423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8141852" y="7546394"/>
            <a:ext cx="602618" cy="642325"/>
          </a:xfrm>
          <a:custGeom>
            <a:avLst/>
            <a:gdLst/>
            <a:ahLst/>
            <a:cxnLst/>
            <a:rect r="r" b="b" t="t" l="l"/>
            <a:pathLst>
              <a:path h="642325" w="602618">
                <a:moveTo>
                  <a:pt x="0" y="0"/>
                </a:moveTo>
                <a:lnTo>
                  <a:pt x="602618" y="0"/>
                </a:lnTo>
                <a:lnTo>
                  <a:pt x="602618" y="642325"/>
                </a:lnTo>
                <a:lnTo>
                  <a:pt x="0" y="6423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6045323" y="8339949"/>
            <a:ext cx="602618" cy="642325"/>
          </a:xfrm>
          <a:custGeom>
            <a:avLst/>
            <a:gdLst/>
            <a:ahLst/>
            <a:cxnLst/>
            <a:rect r="r" b="b" t="t" l="l"/>
            <a:pathLst>
              <a:path h="642325" w="602618">
                <a:moveTo>
                  <a:pt x="0" y="0"/>
                </a:moveTo>
                <a:lnTo>
                  <a:pt x="602618" y="0"/>
                </a:lnTo>
                <a:lnTo>
                  <a:pt x="602618" y="642326"/>
                </a:lnTo>
                <a:lnTo>
                  <a:pt x="0" y="6423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4220733" y="9189178"/>
            <a:ext cx="4854417" cy="885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48"/>
              </a:lnSpc>
              <a:spcBef>
                <a:spcPct val="0"/>
              </a:spcBef>
            </a:pPr>
            <a:r>
              <a:rPr lang="en-US" b="true" sz="3193" spc="-19">
                <a:solidFill>
                  <a:srgbClr val="000000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have acess to basic phone (GSM Voice with SMS)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013261" y="9550335"/>
            <a:ext cx="5114796" cy="288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41"/>
              </a:lnSpc>
              <a:spcBef>
                <a:spcPct val="0"/>
              </a:spcBef>
            </a:pPr>
            <a:r>
              <a:rPr lang="en-US" b="true" sz="1982" spc="-12">
                <a:solidFill>
                  <a:srgbClr val="000000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*</a:t>
            </a:r>
            <a:r>
              <a:rPr lang="en-US" b="true" sz="1982" spc="-12">
                <a:solidFill>
                  <a:srgbClr val="000000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GSMA Mobile Internet Connectivity 2023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970955" y="9252183"/>
            <a:ext cx="5114796" cy="288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41"/>
              </a:lnSpc>
              <a:spcBef>
                <a:spcPct val="0"/>
              </a:spcBef>
            </a:pPr>
            <a:r>
              <a:rPr lang="en-US" b="true" sz="1982" spc="-12">
                <a:solidFill>
                  <a:srgbClr val="000000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*WHO Maternal mortality fact sheet 2025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975070" y="9869758"/>
            <a:ext cx="5114796" cy="288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41"/>
              </a:lnSpc>
              <a:spcBef>
                <a:spcPct val="0"/>
              </a:spcBef>
            </a:pPr>
            <a:r>
              <a:rPr lang="en-US" b="true" sz="1982" spc="-12">
                <a:solidFill>
                  <a:srgbClr val="000000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*</a:t>
            </a:r>
            <a:r>
              <a:rPr lang="en-US" b="true" sz="1982" spc="-12">
                <a:solidFill>
                  <a:srgbClr val="000000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GSMA Mobile Gender Gap 2023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1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757966" y="-408"/>
            <a:ext cx="3530034" cy="3542963"/>
            <a:chOff x="0" y="0"/>
            <a:chExt cx="4706713" cy="4723951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275104" y="0"/>
              <a:ext cx="4431609" cy="4589257"/>
              <a:chOff x="0" y="0"/>
              <a:chExt cx="4785826" cy="4956065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785826" cy="4956110"/>
              </a:xfrm>
              <a:custGeom>
                <a:avLst/>
                <a:gdLst/>
                <a:ahLst/>
                <a:cxnLst/>
                <a:rect r="r" b="b" t="t" l="l"/>
                <a:pathLst>
                  <a:path h="4956110" w="4785826">
                    <a:moveTo>
                      <a:pt x="0" y="0"/>
                    </a:moveTo>
                    <a:lnTo>
                      <a:pt x="0" y="4956110"/>
                    </a:lnTo>
                    <a:lnTo>
                      <a:pt x="4785826" y="4956110"/>
                    </a:lnTo>
                    <a:lnTo>
                      <a:pt x="4785826" y="0"/>
                    </a:lnTo>
                    <a:close/>
                  </a:path>
                </a:pathLst>
              </a:custGeom>
              <a:solidFill>
                <a:srgbClr val="FF943B"/>
              </a:solidFill>
            </p:spPr>
          </p:sp>
        </p:grpSp>
        <p:sp>
          <p:nvSpPr>
            <p:cNvPr name="Freeform 5" id="5"/>
            <p:cNvSpPr/>
            <p:nvPr/>
          </p:nvSpPr>
          <p:spPr>
            <a:xfrm flipH="false" flipV="false" rot="0">
              <a:off x="0" y="280911"/>
              <a:ext cx="4443040" cy="4443040"/>
            </a:xfrm>
            <a:custGeom>
              <a:avLst/>
              <a:gdLst/>
              <a:ahLst/>
              <a:cxnLst/>
              <a:rect r="r" b="b" t="t" l="l"/>
              <a:pathLst>
                <a:path h="4443040" w="4443040">
                  <a:moveTo>
                    <a:pt x="0" y="0"/>
                  </a:moveTo>
                  <a:lnTo>
                    <a:pt x="4443040" y="0"/>
                  </a:lnTo>
                  <a:lnTo>
                    <a:pt x="4443040" y="4443040"/>
                  </a:lnTo>
                  <a:lnTo>
                    <a:pt x="0" y="44430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-636842" y="3449127"/>
            <a:ext cx="9780842" cy="6718033"/>
            <a:chOff x="0" y="0"/>
            <a:chExt cx="2576024" cy="176935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576024" cy="1769358"/>
            </a:xfrm>
            <a:custGeom>
              <a:avLst/>
              <a:gdLst/>
              <a:ahLst/>
              <a:cxnLst/>
              <a:rect r="r" b="b" t="t" l="l"/>
              <a:pathLst>
                <a:path h="1769358" w="2576024">
                  <a:moveTo>
                    <a:pt x="79154" y="0"/>
                  </a:moveTo>
                  <a:lnTo>
                    <a:pt x="2496870" y="0"/>
                  </a:lnTo>
                  <a:cubicBezTo>
                    <a:pt x="2540586" y="0"/>
                    <a:pt x="2576024" y="35438"/>
                    <a:pt x="2576024" y="79154"/>
                  </a:cubicBezTo>
                  <a:lnTo>
                    <a:pt x="2576024" y="1690205"/>
                  </a:lnTo>
                  <a:cubicBezTo>
                    <a:pt x="2576024" y="1733920"/>
                    <a:pt x="2540586" y="1769358"/>
                    <a:pt x="2496870" y="1769358"/>
                  </a:cubicBezTo>
                  <a:lnTo>
                    <a:pt x="79154" y="1769358"/>
                  </a:lnTo>
                  <a:cubicBezTo>
                    <a:pt x="35438" y="1769358"/>
                    <a:pt x="0" y="1733920"/>
                    <a:pt x="0" y="1690205"/>
                  </a:cubicBezTo>
                  <a:lnTo>
                    <a:pt x="0" y="79154"/>
                  </a:lnTo>
                  <a:cubicBezTo>
                    <a:pt x="0" y="35438"/>
                    <a:pt x="35438" y="0"/>
                    <a:pt x="79154" y="0"/>
                  </a:cubicBezTo>
                  <a:close/>
                </a:path>
              </a:pathLst>
            </a:custGeom>
            <a:solidFill>
              <a:srgbClr val="F889D2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2576024" cy="17979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75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324975" y="3704876"/>
            <a:ext cx="10168077" cy="6860064"/>
            <a:chOff x="0" y="0"/>
            <a:chExt cx="2678012" cy="180676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678012" cy="1806766"/>
            </a:xfrm>
            <a:custGeom>
              <a:avLst/>
              <a:gdLst/>
              <a:ahLst/>
              <a:cxnLst/>
              <a:rect r="r" b="b" t="t" l="l"/>
              <a:pathLst>
                <a:path h="1806766" w="2678012">
                  <a:moveTo>
                    <a:pt x="76139" y="0"/>
                  </a:moveTo>
                  <a:lnTo>
                    <a:pt x="2601872" y="0"/>
                  </a:lnTo>
                  <a:cubicBezTo>
                    <a:pt x="2622066" y="0"/>
                    <a:pt x="2641432" y="8022"/>
                    <a:pt x="2655711" y="22301"/>
                  </a:cubicBezTo>
                  <a:cubicBezTo>
                    <a:pt x="2669990" y="36580"/>
                    <a:pt x="2678012" y="55946"/>
                    <a:pt x="2678012" y="76139"/>
                  </a:cubicBezTo>
                  <a:lnTo>
                    <a:pt x="2678012" y="1730626"/>
                  </a:lnTo>
                  <a:cubicBezTo>
                    <a:pt x="2678012" y="1750820"/>
                    <a:pt x="2669990" y="1770186"/>
                    <a:pt x="2655711" y="1784465"/>
                  </a:cubicBezTo>
                  <a:cubicBezTo>
                    <a:pt x="2641432" y="1798744"/>
                    <a:pt x="2622066" y="1806766"/>
                    <a:pt x="2601872" y="1806766"/>
                  </a:cubicBezTo>
                  <a:lnTo>
                    <a:pt x="76139" y="1806766"/>
                  </a:lnTo>
                  <a:cubicBezTo>
                    <a:pt x="34089" y="1806766"/>
                    <a:pt x="0" y="1772677"/>
                    <a:pt x="0" y="1730626"/>
                  </a:cubicBezTo>
                  <a:lnTo>
                    <a:pt x="0" y="76139"/>
                  </a:lnTo>
                  <a:cubicBezTo>
                    <a:pt x="0" y="34089"/>
                    <a:pt x="34089" y="0"/>
                    <a:pt x="76139" y="0"/>
                  </a:cubicBezTo>
                  <a:close/>
                </a:path>
              </a:pathLst>
            </a:custGeom>
            <a:solidFill>
              <a:srgbClr val="F889D2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2678012" cy="18353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75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270713" y="5130978"/>
            <a:ext cx="757987" cy="573227"/>
          </a:xfrm>
          <a:custGeom>
            <a:avLst/>
            <a:gdLst/>
            <a:ahLst/>
            <a:cxnLst/>
            <a:rect r="r" b="b" t="t" l="l"/>
            <a:pathLst>
              <a:path h="573227" w="757987">
                <a:moveTo>
                  <a:pt x="0" y="0"/>
                </a:moveTo>
                <a:lnTo>
                  <a:pt x="757987" y="0"/>
                </a:lnTo>
                <a:lnTo>
                  <a:pt x="757987" y="573228"/>
                </a:lnTo>
                <a:lnTo>
                  <a:pt x="0" y="5732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9784603" y="5295664"/>
            <a:ext cx="757987" cy="573227"/>
          </a:xfrm>
          <a:custGeom>
            <a:avLst/>
            <a:gdLst/>
            <a:ahLst/>
            <a:cxnLst/>
            <a:rect r="r" b="b" t="t" l="l"/>
            <a:pathLst>
              <a:path h="573227" w="757987">
                <a:moveTo>
                  <a:pt x="0" y="0"/>
                </a:moveTo>
                <a:lnTo>
                  <a:pt x="757987" y="0"/>
                </a:lnTo>
                <a:lnTo>
                  <a:pt x="757987" y="573227"/>
                </a:lnTo>
                <a:lnTo>
                  <a:pt x="0" y="5732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9784603" y="6236821"/>
            <a:ext cx="757987" cy="573227"/>
          </a:xfrm>
          <a:custGeom>
            <a:avLst/>
            <a:gdLst/>
            <a:ahLst/>
            <a:cxnLst/>
            <a:rect r="r" b="b" t="t" l="l"/>
            <a:pathLst>
              <a:path h="573227" w="757987">
                <a:moveTo>
                  <a:pt x="0" y="0"/>
                </a:moveTo>
                <a:lnTo>
                  <a:pt x="757987" y="0"/>
                </a:lnTo>
                <a:lnTo>
                  <a:pt x="757987" y="573228"/>
                </a:lnTo>
                <a:lnTo>
                  <a:pt x="0" y="5732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270713" y="6285404"/>
            <a:ext cx="757987" cy="573227"/>
          </a:xfrm>
          <a:custGeom>
            <a:avLst/>
            <a:gdLst/>
            <a:ahLst/>
            <a:cxnLst/>
            <a:rect r="r" b="b" t="t" l="l"/>
            <a:pathLst>
              <a:path h="573227" w="757987">
                <a:moveTo>
                  <a:pt x="0" y="0"/>
                </a:moveTo>
                <a:lnTo>
                  <a:pt x="757987" y="0"/>
                </a:lnTo>
                <a:lnTo>
                  <a:pt x="757987" y="573228"/>
                </a:lnTo>
                <a:lnTo>
                  <a:pt x="0" y="5732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270713" y="8000492"/>
            <a:ext cx="757987" cy="573227"/>
          </a:xfrm>
          <a:custGeom>
            <a:avLst/>
            <a:gdLst/>
            <a:ahLst/>
            <a:cxnLst/>
            <a:rect r="r" b="b" t="t" l="l"/>
            <a:pathLst>
              <a:path h="573227" w="757987">
                <a:moveTo>
                  <a:pt x="0" y="0"/>
                </a:moveTo>
                <a:lnTo>
                  <a:pt x="757987" y="0"/>
                </a:lnTo>
                <a:lnTo>
                  <a:pt x="757987" y="573227"/>
                </a:lnTo>
                <a:lnTo>
                  <a:pt x="0" y="5732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270713" y="9593932"/>
            <a:ext cx="757987" cy="573227"/>
          </a:xfrm>
          <a:custGeom>
            <a:avLst/>
            <a:gdLst/>
            <a:ahLst/>
            <a:cxnLst/>
            <a:rect r="r" b="b" t="t" l="l"/>
            <a:pathLst>
              <a:path h="573227" w="757987">
                <a:moveTo>
                  <a:pt x="0" y="0"/>
                </a:moveTo>
                <a:lnTo>
                  <a:pt x="757987" y="0"/>
                </a:lnTo>
                <a:lnTo>
                  <a:pt x="757987" y="573228"/>
                </a:lnTo>
                <a:lnTo>
                  <a:pt x="0" y="5732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457248" y="1935972"/>
            <a:ext cx="8396883" cy="1083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56"/>
              </a:lnSpc>
            </a:pPr>
            <a:r>
              <a:rPr lang="en-US" b="true" sz="3134" i="true">
                <a:solidFill>
                  <a:srgbClr val="000000"/>
                </a:solidFill>
                <a:latin typeface="Red Hat Display Bold Italics"/>
                <a:ea typeface="Red Hat Display Bold Italics"/>
                <a:cs typeface="Red Hat Display Bold Italics"/>
                <a:sym typeface="Red Hat Display Bold Italics"/>
              </a:rPr>
              <a:t>Voice Conversational AI Agent</a:t>
            </a:r>
            <a:r>
              <a:rPr lang="en-US" b="true" sz="3134" i="true">
                <a:solidFill>
                  <a:srgbClr val="000000"/>
                </a:solidFill>
                <a:latin typeface="Red Hat Display Bold Italics"/>
                <a:ea typeface="Red Hat Display Bold Italics"/>
                <a:cs typeface="Red Hat Display Bold Italics"/>
                <a:sym typeface="Red Hat Display Bold Italics"/>
              </a:rPr>
              <a:t> for prenatal risk prediction to postpartum recovery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57248" y="664834"/>
            <a:ext cx="7140410" cy="1106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13"/>
              </a:lnSpc>
            </a:pPr>
            <a:r>
              <a:rPr lang="en-US" b="true" sz="7182">
                <a:solidFill>
                  <a:srgbClr val="F889D2"/>
                </a:solidFill>
                <a:latin typeface="TAN St. Canard"/>
                <a:ea typeface="TAN St. Canard"/>
                <a:cs typeface="TAN St. Canard"/>
                <a:sym typeface="TAN St. Canard"/>
              </a:rPr>
              <a:t>SOLUTION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594214" y="4106173"/>
            <a:ext cx="6751201" cy="426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FOR THE HOSPITAL (Core SaaS Component)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28700" y="4089248"/>
            <a:ext cx="6882051" cy="426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 </a:t>
            </a:r>
            <a:r>
              <a:rPr lang="en-US" b="true" sz="2499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FOR THE MOTHER (Zero-Friction Innovation)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706371" y="5280355"/>
            <a:ext cx="4623952" cy="5330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41"/>
              </a:lnSpc>
              <a:spcBef>
                <a:spcPct val="0"/>
              </a:spcBef>
            </a:pPr>
            <a:r>
              <a:rPr lang="en-US" sz="3199" strike="noStrike" u="none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Real-Time Risk Flagging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706371" y="6221512"/>
            <a:ext cx="6418717" cy="5330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41"/>
              </a:lnSpc>
              <a:spcBef>
                <a:spcPct val="0"/>
              </a:spcBef>
            </a:pPr>
            <a:r>
              <a:rPr lang="en-US" sz="3199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User Management &amp; Activity Log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04922" y="5045691"/>
            <a:ext cx="5299234" cy="542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41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No app. No data. 24/7 access.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04922" y="6012327"/>
            <a:ext cx="7016592" cy="20714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64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Prenatal: Pr</a:t>
            </a:r>
            <a:r>
              <a:rPr lang="en-US" sz="3000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oactive scheduled/outbound calls to track risks between ANC clinic visits.</a:t>
            </a:r>
          </a:p>
          <a:p>
            <a:pPr algn="l">
              <a:lnSpc>
                <a:spcPts val="4164"/>
              </a:lnSpc>
              <a:spcBef>
                <a:spcPct val="0"/>
              </a:spcBef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1204922" y="7727414"/>
            <a:ext cx="7016592" cy="1547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64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Postpartum: 24/7 inbound/outbound v</a:t>
            </a:r>
            <a:r>
              <a:rPr lang="en-US" sz="3000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oice guidance for infant care questions, mental health etc.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23972" y="9513161"/>
            <a:ext cx="7016592" cy="4998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64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Support multiple languages</a:t>
            </a:r>
          </a:p>
        </p:txBody>
      </p:sp>
      <p:pic>
        <p:nvPicPr>
          <p:cNvPr name="Picture 28" id="2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8633184" y="7061233"/>
            <a:ext cx="6129793" cy="383704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1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665791" y="3381484"/>
            <a:ext cx="4255018" cy="38100"/>
            <a:chOff x="0" y="0"/>
            <a:chExt cx="4255008" cy="381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55003" cy="38100"/>
            </a:xfrm>
            <a:custGeom>
              <a:avLst/>
              <a:gdLst/>
              <a:ahLst/>
              <a:cxnLst/>
              <a:rect r="r" b="b" t="t" l="l"/>
              <a:pathLst>
                <a:path h="38100" w="4255003">
                  <a:moveTo>
                    <a:pt x="0" y="38100"/>
                  </a:moveTo>
                  <a:lnTo>
                    <a:pt x="4255003" y="38100"/>
                  </a:lnTo>
                  <a:lnTo>
                    <a:pt x="425500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4665791" y="5057227"/>
            <a:ext cx="4255018" cy="38100"/>
            <a:chOff x="0" y="0"/>
            <a:chExt cx="4255008" cy="381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255003" cy="38100"/>
            </a:xfrm>
            <a:custGeom>
              <a:avLst/>
              <a:gdLst/>
              <a:ahLst/>
              <a:cxnLst/>
              <a:rect r="r" b="b" t="t" l="l"/>
              <a:pathLst>
                <a:path h="38100" w="4255003">
                  <a:moveTo>
                    <a:pt x="0" y="38100"/>
                  </a:moveTo>
                  <a:lnTo>
                    <a:pt x="4255003" y="38100"/>
                  </a:lnTo>
                  <a:lnTo>
                    <a:pt x="425500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4833574" y="7175987"/>
            <a:ext cx="4255018" cy="38100"/>
            <a:chOff x="0" y="0"/>
            <a:chExt cx="4255008" cy="381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55003" cy="38100"/>
            </a:xfrm>
            <a:custGeom>
              <a:avLst/>
              <a:gdLst/>
              <a:ahLst/>
              <a:cxnLst/>
              <a:rect r="r" b="b" t="t" l="l"/>
              <a:pathLst>
                <a:path h="38100" w="4255003">
                  <a:moveTo>
                    <a:pt x="0" y="38100"/>
                  </a:moveTo>
                  <a:lnTo>
                    <a:pt x="4255003" y="38100"/>
                  </a:lnTo>
                  <a:lnTo>
                    <a:pt x="425500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282801" y="7432130"/>
            <a:ext cx="11832410" cy="2714209"/>
          </a:xfrm>
          <a:custGeom>
            <a:avLst/>
            <a:gdLst/>
            <a:ahLst/>
            <a:cxnLst/>
            <a:rect r="r" b="b" t="t" l="l"/>
            <a:pathLst>
              <a:path h="2714209" w="11832410">
                <a:moveTo>
                  <a:pt x="0" y="0"/>
                </a:moveTo>
                <a:lnTo>
                  <a:pt x="11832410" y="0"/>
                </a:lnTo>
                <a:lnTo>
                  <a:pt x="11832410" y="2714210"/>
                </a:lnTo>
                <a:lnTo>
                  <a:pt x="0" y="27142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278021" y="648004"/>
            <a:ext cx="9521126" cy="7057534"/>
          </a:xfrm>
          <a:custGeom>
            <a:avLst/>
            <a:gdLst/>
            <a:ahLst/>
            <a:cxnLst/>
            <a:rect r="r" b="b" t="t" l="l"/>
            <a:pathLst>
              <a:path h="7057534" w="9521126">
                <a:moveTo>
                  <a:pt x="0" y="0"/>
                </a:moveTo>
                <a:lnTo>
                  <a:pt x="9521126" y="0"/>
                </a:lnTo>
                <a:lnTo>
                  <a:pt x="9521126" y="7057535"/>
                </a:lnTo>
                <a:lnTo>
                  <a:pt x="0" y="70575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9674360" y="5337136"/>
            <a:ext cx="1023845" cy="616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0"/>
              </a:lnSpc>
            </a:pPr>
            <a:r>
              <a:rPr lang="en-US" b="true" sz="3492">
                <a:solidFill>
                  <a:srgbClr val="231F20"/>
                </a:solidFill>
                <a:latin typeface="TAN St. Canard"/>
                <a:ea typeface="TAN St. Canard"/>
                <a:cs typeface="TAN St. Canard"/>
                <a:sym typeface="TAN St. Canard"/>
              </a:rPr>
              <a:t>SOM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292494" y="1470276"/>
            <a:ext cx="1017044" cy="988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32"/>
              </a:lnSpc>
            </a:pPr>
            <a:r>
              <a:rPr lang="en-US" b="true" sz="3492">
                <a:solidFill>
                  <a:srgbClr val="181718"/>
                </a:solidFill>
                <a:latin typeface="TAN St. Canard"/>
                <a:ea typeface="TAN St. Canard"/>
                <a:cs typeface="TAN St. Canard"/>
                <a:sym typeface="TAN St. Canard"/>
              </a:rPr>
              <a:t>TAM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435378" y="2927816"/>
            <a:ext cx="1035600" cy="988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32"/>
              </a:lnSpc>
            </a:pPr>
            <a:r>
              <a:rPr lang="en-US" b="true" sz="3492">
                <a:solidFill>
                  <a:srgbClr val="181718"/>
                </a:solidFill>
                <a:latin typeface="TAN St. Canard"/>
                <a:ea typeface="TAN St. Canard"/>
                <a:cs typeface="TAN St. Canard"/>
                <a:sym typeface="TAN St. Canard"/>
              </a:rPr>
              <a:t>SAM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788088" y="210641"/>
            <a:ext cx="1729628" cy="587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0"/>
              </a:lnSpc>
              <a:spcBef>
                <a:spcPct val="0"/>
              </a:spcBef>
            </a:pPr>
            <a:r>
              <a:rPr lang="en-US" b="true" sz="3492">
                <a:solidFill>
                  <a:srgbClr val="000000"/>
                </a:solidFill>
                <a:latin typeface="TAN St. Canard"/>
                <a:ea typeface="TAN St. Canard"/>
                <a:cs typeface="TAN St. Canard"/>
                <a:sym typeface="TAN St. Canard"/>
              </a:rPr>
              <a:t> $100M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076502" y="2081742"/>
            <a:ext cx="1713302" cy="677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45"/>
              </a:lnSpc>
              <a:spcBef>
                <a:spcPct val="0"/>
              </a:spcBef>
            </a:pPr>
            <a:r>
              <a:rPr lang="en-US" b="true" sz="3960">
                <a:solidFill>
                  <a:srgbClr val="000000"/>
                </a:solidFill>
                <a:latin typeface="TAN St. Canard"/>
                <a:ea typeface="TAN St. Canard"/>
                <a:cs typeface="TAN St. Canard"/>
                <a:sym typeface="TAN St. Canard"/>
              </a:rPr>
              <a:t>$3.5M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479954" y="3976922"/>
            <a:ext cx="2952340" cy="617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79"/>
              </a:lnSpc>
              <a:spcBef>
                <a:spcPct val="0"/>
              </a:spcBef>
            </a:pPr>
            <a:r>
              <a:rPr lang="en-US" b="true" sz="3627">
                <a:solidFill>
                  <a:srgbClr val="000000"/>
                </a:solidFill>
                <a:latin typeface="TAN St. Canard"/>
                <a:ea typeface="TAN St. Canard"/>
                <a:cs typeface="TAN St. Canard"/>
                <a:sym typeface="TAN St. Canard"/>
              </a:rPr>
              <a:t>$500,000+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799843" y="1012590"/>
            <a:ext cx="4638386" cy="705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8"/>
              </a:lnSpc>
            </a:pPr>
            <a:r>
              <a:rPr lang="en-US" b="true" sz="2030" spc="2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Address</a:t>
            </a:r>
            <a:r>
              <a:rPr lang="en-US" b="true" sz="2030" spc="2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able facility-births with phones across sub-saharan regions.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479954" y="2760384"/>
            <a:ext cx="4638386" cy="705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8"/>
              </a:lnSpc>
            </a:pPr>
            <a:r>
              <a:rPr lang="en-US" b="true" sz="2030" spc="2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800,000+</a:t>
            </a:r>
            <a:r>
              <a:rPr lang="en-US" b="true" sz="2030" spc="2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 facility-delivered mothers annually with phone access.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479954" y="4688735"/>
            <a:ext cx="4638386" cy="705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8"/>
              </a:lnSpc>
            </a:pPr>
            <a:r>
              <a:rPr lang="en-US" b="true" sz="2030" spc="2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C</a:t>
            </a:r>
            <a:r>
              <a:rPr lang="en-US" b="true" sz="2030" spc="2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apturing the top 150 high-volume private &amp; government hospitals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57859" y="1279691"/>
            <a:ext cx="6235441" cy="1882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43"/>
              </a:lnSpc>
            </a:pPr>
            <a:r>
              <a:rPr lang="en-US" sz="6066">
                <a:solidFill>
                  <a:srgbClr val="FF7501"/>
                </a:solidFill>
                <a:latin typeface="TAN St. Canard"/>
                <a:ea typeface="TAN St. Canard"/>
                <a:cs typeface="TAN St. Canard"/>
                <a:sym typeface="TAN St. Canard"/>
              </a:rPr>
              <a:t>MARKET OPPORTUNITY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115211" y="8474641"/>
            <a:ext cx="5323018" cy="1502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62"/>
              </a:lnSpc>
            </a:pPr>
            <a:r>
              <a:rPr lang="en-US" sz="4859">
                <a:solidFill>
                  <a:srgbClr val="FF7501"/>
                </a:solidFill>
                <a:latin typeface="TAN St. Canard"/>
                <a:ea typeface="TAN St. Canard"/>
                <a:cs typeface="TAN St. Canard"/>
                <a:sym typeface="TAN St. Canard"/>
              </a:rPr>
              <a:t>MAJOR STAKEHOLDERS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302557" y="7689806"/>
            <a:ext cx="1978247" cy="453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48"/>
              </a:lnSpc>
            </a:pPr>
            <a:r>
              <a:rPr lang="en-US" b="true" sz="2534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Government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740855" y="7669097"/>
            <a:ext cx="1663541" cy="494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b="true" sz="2799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Insurance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412379" y="7648389"/>
            <a:ext cx="1032510" cy="494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b="true" sz="2799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NGOs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06875" y="7404056"/>
            <a:ext cx="1823847" cy="780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b="true" sz="2799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Hospitals</a:t>
            </a:r>
            <a:r>
              <a:rPr lang="en-US" b="true" sz="2799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 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251110" y="7418086"/>
            <a:ext cx="1109782" cy="766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b="true" sz="2799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Telcos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CF1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758800" y="3086100"/>
          <a:ext cx="16500500" cy="6716983"/>
        </p:xfrm>
        <a:graphic>
          <a:graphicData uri="http://schemas.openxmlformats.org/drawingml/2006/table">
            <a:tbl>
              <a:tblPr/>
              <a:tblGrid>
                <a:gridCol w="5500167"/>
                <a:gridCol w="5500167"/>
                <a:gridCol w="5500167"/>
              </a:tblGrid>
              <a:tr h="167924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</a:tr>
              <a:tr h="167924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3"/>
                    </a:solidFill>
                  </a:tcPr>
                </a:tc>
              </a:tr>
              <a:tr h="167924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3"/>
                    </a:solidFill>
                  </a:tcPr>
                </a:tc>
              </a:tr>
              <a:tr h="167924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3"/>
                    </a:solidFill>
                  </a:tcPr>
                </a:tc>
              </a:tr>
            </a:tbl>
          </a:graphicData>
        </a:graphic>
      </p:graphicFrame>
      <p:grpSp>
        <p:nvGrpSpPr>
          <p:cNvPr name="Group 3" id="3"/>
          <p:cNvGrpSpPr/>
          <p:nvPr/>
        </p:nvGrpSpPr>
        <p:grpSpPr>
          <a:xfrm rot="0">
            <a:off x="-1874540" y="8096712"/>
            <a:ext cx="22199401" cy="2781748"/>
            <a:chOff x="0" y="0"/>
            <a:chExt cx="5846756" cy="73264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846756" cy="732641"/>
            </a:xfrm>
            <a:custGeom>
              <a:avLst/>
              <a:gdLst/>
              <a:ahLst/>
              <a:cxnLst/>
              <a:rect r="r" b="b" t="t" l="l"/>
              <a:pathLst>
                <a:path h="732641" w="5846756">
                  <a:moveTo>
                    <a:pt x="0" y="0"/>
                  </a:moveTo>
                  <a:lnTo>
                    <a:pt x="5846756" y="0"/>
                  </a:lnTo>
                  <a:lnTo>
                    <a:pt x="5846756" y="732641"/>
                  </a:lnTo>
                  <a:lnTo>
                    <a:pt x="0" y="732641"/>
                  </a:lnTo>
                  <a:close/>
                </a:path>
              </a:pathLst>
            </a:custGeom>
            <a:solidFill>
              <a:srgbClr val="FFA486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5846756" cy="7802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6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758800" y="569288"/>
            <a:ext cx="9895381" cy="1888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73"/>
              </a:lnSpc>
            </a:pPr>
            <a:r>
              <a:rPr lang="en-US" sz="5825" spc="238">
                <a:solidFill>
                  <a:srgbClr val="F889D2"/>
                </a:solidFill>
                <a:latin typeface="TAN St. Canard"/>
                <a:ea typeface="TAN St. Canard"/>
                <a:cs typeface="TAN St. Canard"/>
                <a:sym typeface="TAN St. Canard"/>
              </a:rPr>
              <a:t>COMPETITIVE LANDSCAPE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199979" y="3600952"/>
            <a:ext cx="4600448" cy="426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FLAWS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984499" y="3381877"/>
            <a:ext cx="5087411" cy="864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MAMACARE AI  DIFFERENTIATION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5095875"/>
            <a:ext cx="4600448" cy="864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Smartphone Apps (e.g., Ovia, BabyCenter)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043206" y="3600952"/>
            <a:ext cx="2571435" cy="426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ALTERNATIVE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45272" y="7043727"/>
            <a:ext cx="4600448" cy="426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C</a:t>
            </a:r>
            <a:r>
              <a:rPr lang="en-US" b="true" sz="2499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ommunity Health Workers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843776" y="5095875"/>
            <a:ext cx="4600448" cy="864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Require s</a:t>
            </a:r>
            <a:r>
              <a:rPr lang="en-US" sz="2499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martphones, mobile data, and digital literacy.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313463" y="5095875"/>
            <a:ext cx="4718504" cy="864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Works on any  FEATURE phone. No app, no data required.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663740" y="6824652"/>
            <a:ext cx="4690620" cy="864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Expensive to scale, impossible to monitor mothers at 2AM or Daily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313463" y="7026910"/>
            <a:ext cx="4429482" cy="426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Provides continuous monitoring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79879" y="9021445"/>
            <a:ext cx="16179421" cy="426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9"/>
              </a:lnSpc>
              <a:spcBef>
                <a:spcPct val="0"/>
              </a:spcBef>
            </a:pPr>
            <a:r>
              <a:rPr lang="en-US" b="true" sz="2499" i="true">
                <a:solidFill>
                  <a:srgbClr val="000000"/>
                </a:solidFill>
                <a:latin typeface="Red Hat Display Bold Italics"/>
                <a:ea typeface="Red Hat Display Bold Italics"/>
                <a:cs typeface="Red Hat Display Bold Italics"/>
                <a:sym typeface="Red Hat Display Bold Italics"/>
              </a:rPr>
              <a:t>We are building the invisible infrastructure that connects basic-phone patients to hospital clinical workflows.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4AD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085053" y="1982600"/>
            <a:ext cx="5440947" cy="7542400"/>
            <a:chOff x="0" y="0"/>
            <a:chExt cx="7254596" cy="100565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254621" cy="10056495"/>
            </a:xfrm>
            <a:custGeom>
              <a:avLst/>
              <a:gdLst/>
              <a:ahLst/>
              <a:cxnLst/>
              <a:rect r="r" b="b" t="t" l="l"/>
              <a:pathLst>
                <a:path h="10056495" w="7254621">
                  <a:moveTo>
                    <a:pt x="0" y="0"/>
                  </a:moveTo>
                  <a:lnTo>
                    <a:pt x="7254621" y="0"/>
                  </a:lnTo>
                  <a:lnTo>
                    <a:pt x="7254621" y="10056495"/>
                  </a:lnTo>
                  <a:lnTo>
                    <a:pt x="0" y="100564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4909" t="0" r="-72901" b="-3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399253" y="2724150"/>
            <a:ext cx="1557080" cy="1038054"/>
            <a:chOff x="0" y="0"/>
            <a:chExt cx="1557084" cy="103804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55756" cy="1038093"/>
            </a:xfrm>
            <a:custGeom>
              <a:avLst/>
              <a:gdLst/>
              <a:ahLst/>
              <a:cxnLst/>
              <a:rect r="r" b="b" t="t" l="l"/>
              <a:pathLst>
                <a:path h="1038093" w="1555756">
                  <a:moveTo>
                    <a:pt x="0" y="0"/>
                  </a:moveTo>
                  <a:lnTo>
                    <a:pt x="0" y="1038093"/>
                  </a:lnTo>
                  <a:lnTo>
                    <a:pt x="1555756" y="1038093"/>
                  </a:lnTo>
                  <a:lnTo>
                    <a:pt x="1555756" y="0"/>
                  </a:lnTo>
                  <a:close/>
                </a:path>
              </a:pathLst>
            </a:custGeom>
            <a:solidFill>
              <a:srgbClr val="CFF23C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492424" y="3952704"/>
            <a:ext cx="5804977" cy="3086100"/>
            <a:chOff x="0" y="0"/>
            <a:chExt cx="1528883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28883" cy="812800"/>
            </a:xfrm>
            <a:custGeom>
              <a:avLst/>
              <a:gdLst/>
              <a:ahLst/>
              <a:cxnLst/>
              <a:rect r="r" b="b" t="t" l="l"/>
              <a:pathLst>
                <a:path h="812800" w="1528883">
                  <a:moveTo>
                    <a:pt x="38676" y="0"/>
                  </a:moveTo>
                  <a:lnTo>
                    <a:pt x="1490206" y="0"/>
                  </a:lnTo>
                  <a:cubicBezTo>
                    <a:pt x="1500464" y="0"/>
                    <a:pt x="1510302" y="4075"/>
                    <a:pt x="1517555" y="11328"/>
                  </a:cubicBezTo>
                  <a:cubicBezTo>
                    <a:pt x="1524808" y="18581"/>
                    <a:pt x="1528883" y="28419"/>
                    <a:pt x="1528883" y="38676"/>
                  </a:cubicBezTo>
                  <a:lnTo>
                    <a:pt x="1528883" y="774124"/>
                  </a:lnTo>
                  <a:cubicBezTo>
                    <a:pt x="1528883" y="784381"/>
                    <a:pt x="1524808" y="794219"/>
                    <a:pt x="1517555" y="801472"/>
                  </a:cubicBezTo>
                  <a:cubicBezTo>
                    <a:pt x="1510302" y="808725"/>
                    <a:pt x="1500464" y="812800"/>
                    <a:pt x="1490206" y="812800"/>
                  </a:cubicBezTo>
                  <a:lnTo>
                    <a:pt x="38676" y="812800"/>
                  </a:lnTo>
                  <a:cubicBezTo>
                    <a:pt x="28419" y="812800"/>
                    <a:pt x="18581" y="808725"/>
                    <a:pt x="11328" y="801472"/>
                  </a:cubicBezTo>
                  <a:cubicBezTo>
                    <a:pt x="4075" y="794219"/>
                    <a:pt x="0" y="784381"/>
                    <a:pt x="0" y="774124"/>
                  </a:cubicBezTo>
                  <a:lnTo>
                    <a:pt x="0" y="38676"/>
                  </a:lnTo>
                  <a:cubicBezTo>
                    <a:pt x="0" y="28419"/>
                    <a:pt x="4075" y="18581"/>
                    <a:pt x="11328" y="11328"/>
                  </a:cubicBezTo>
                  <a:cubicBezTo>
                    <a:pt x="18581" y="4075"/>
                    <a:pt x="28419" y="0"/>
                    <a:pt x="38676" y="0"/>
                  </a:cubicBezTo>
                  <a:close/>
                </a:path>
              </a:pathLst>
            </a:custGeom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528883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6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492424" y="7302351"/>
            <a:ext cx="5804977" cy="2477396"/>
            <a:chOff x="0" y="0"/>
            <a:chExt cx="1528883" cy="65248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528883" cy="652483"/>
            </a:xfrm>
            <a:custGeom>
              <a:avLst/>
              <a:gdLst/>
              <a:ahLst/>
              <a:cxnLst/>
              <a:rect r="r" b="b" t="t" l="l"/>
              <a:pathLst>
                <a:path h="652483" w="1528883">
                  <a:moveTo>
                    <a:pt x="38676" y="0"/>
                  </a:moveTo>
                  <a:lnTo>
                    <a:pt x="1490206" y="0"/>
                  </a:lnTo>
                  <a:cubicBezTo>
                    <a:pt x="1500464" y="0"/>
                    <a:pt x="1510302" y="4075"/>
                    <a:pt x="1517555" y="11328"/>
                  </a:cubicBezTo>
                  <a:cubicBezTo>
                    <a:pt x="1524808" y="18581"/>
                    <a:pt x="1528883" y="28419"/>
                    <a:pt x="1528883" y="38676"/>
                  </a:cubicBezTo>
                  <a:lnTo>
                    <a:pt x="1528883" y="613807"/>
                  </a:lnTo>
                  <a:cubicBezTo>
                    <a:pt x="1528883" y="624064"/>
                    <a:pt x="1524808" y="633902"/>
                    <a:pt x="1517555" y="641155"/>
                  </a:cubicBezTo>
                  <a:cubicBezTo>
                    <a:pt x="1510302" y="648408"/>
                    <a:pt x="1500464" y="652483"/>
                    <a:pt x="1490206" y="652483"/>
                  </a:cubicBezTo>
                  <a:lnTo>
                    <a:pt x="38676" y="652483"/>
                  </a:lnTo>
                  <a:cubicBezTo>
                    <a:pt x="28419" y="652483"/>
                    <a:pt x="18581" y="648408"/>
                    <a:pt x="11328" y="641155"/>
                  </a:cubicBezTo>
                  <a:cubicBezTo>
                    <a:pt x="4075" y="633902"/>
                    <a:pt x="0" y="624064"/>
                    <a:pt x="0" y="613807"/>
                  </a:cubicBezTo>
                  <a:lnTo>
                    <a:pt x="0" y="38676"/>
                  </a:lnTo>
                  <a:cubicBezTo>
                    <a:pt x="0" y="28419"/>
                    <a:pt x="4075" y="18581"/>
                    <a:pt x="11328" y="11328"/>
                  </a:cubicBezTo>
                  <a:cubicBezTo>
                    <a:pt x="18581" y="4075"/>
                    <a:pt x="28419" y="0"/>
                    <a:pt x="38676" y="0"/>
                  </a:cubicBezTo>
                  <a:close/>
                </a:path>
              </a:pathLst>
            </a:custGeom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528883" cy="7001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6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781050" y="938203"/>
            <a:ext cx="8236472" cy="3744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797"/>
              </a:lnSpc>
            </a:pPr>
            <a:r>
              <a:rPr lang="en-US" b="true" sz="8799">
                <a:solidFill>
                  <a:srgbClr val="CFF23C"/>
                </a:solidFill>
                <a:latin typeface="TAN St. Canard"/>
                <a:ea typeface="TAN St. Canard"/>
                <a:cs typeface="TAN St. Canard"/>
                <a:sym typeface="TAN St. Canard"/>
              </a:rPr>
              <a:t>REVENUE MODEL</a:t>
            </a:r>
          </a:p>
          <a:p>
            <a:pPr algn="l">
              <a:lnSpc>
                <a:spcPts val="8679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2548641" y="3428829"/>
            <a:ext cx="69551" cy="734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26"/>
              </a:lnSpc>
            </a:pPr>
            <a:r>
              <a:rPr lang="en-US" b="true" sz="2650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303306" y="962025"/>
            <a:ext cx="9361001" cy="1392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79"/>
              </a:lnSpc>
            </a:pPr>
            <a:r>
              <a:rPr lang="en-US" b="true" sz="4057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MINIMUM </a:t>
            </a:r>
            <a:r>
              <a:rPr lang="en-US" b="true" sz="4057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DIRECT COSTS TO THE MOTHER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25068" y="3708046"/>
            <a:ext cx="2076821" cy="971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47"/>
              </a:lnSpc>
            </a:pPr>
            <a:r>
              <a:rPr lang="en-US" b="true" sz="3499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Hospitals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78149" y="4353745"/>
            <a:ext cx="3105978" cy="2542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56"/>
              </a:lnSpc>
            </a:pPr>
            <a:r>
              <a:rPr lang="en-US" sz="6022">
                <a:solidFill>
                  <a:srgbClr val="000000"/>
                </a:solidFill>
                <a:latin typeface="TAN St. Canard"/>
                <a:ea typeface="TAN St. Canard"/>
                <a:cs typeface="TAN St. Canard"/>
                <a:sym typeface="TAN St. Canard"/>
              </a:rPr>
              <a:t>*$</a:t>
            </a:r>
            <a:r>
              <a:rPr lang="en-US" b="true" sz="6022">
                <a:solidFill>
                  <a:srgbClr val="000000"/>
                </a:solidFill>
                <a:latin typeface="TAN St. Canard"/>
                <a:ea typeface="TAN St. Canard"/>
                <a:cs typeface="TAN St. Canard"/>
                <a:sym typeface="TAN St. Canard"/>
              </a:rPr>
              <a:t>5-7$/</a:t>
            </a:r>
          </a:p>
          <a:p>
            <a:pPr algn="l">
              <a:lnSpc>
                <a:spcPts val="3340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6622269" y="3712376"/>
            <a:ext cx="1482517" cy="965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50"/>
              </a:lnSpc>
            </a:pPr>
            <a:r>
              <a:rPr lang="en-US" b="true" sz="3500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Telcos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382878" y="3962532"/>
            <a:ext cx="5500625" cy="3086100"/>
            <a:chOff x="0" y="0"/>
            <a:chExt cx="1448724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448724" cy="812800"/>
            </a:xfrm>
            <a:custGeom>
              <a:avLst/>
              <a:gdLst/>
              <a:ahLst/>
              <a:cxnLst/>
              <a:rect r="r" b="b" t="t" l="l"/>
              <a:pathLst>
                <a:path h="812800" w="1448724">
                  <a:moveTo>
                    <a:pt x="40816" y="0"/>
                  </a:moveTo>
                  <a:lnTo>
                    <a:pt x="1407908" y="0"/>
                  </a:lnTo>
                  <a:cubicBezTo>
                    <a:pt x="1418733" y="0"/>
                    <a:pt x="1429115" y="4300"/>
                    <a:pt x="1436770" y="11955"/>
                  </a:cubicBezTo>
                  <a:cubicBezTo>
                    <a:pt x="1444424" y="19609"/>
                    <a:pt x="1448724" y="29991"/>
                    <a:pt x="1448724" y="40816"/>
                  </a:cubicBezTo>
                  <a:lnTo>
                    <a:pt x="1448724" y="771984"/>
                  </a:lnTo>
                  <a:cubicBezTo>
                    <a:pt x="1448724" y="782809"/>
                    <a:pt x="1444424" y="793191"/>
                    <a:pt x="1436770" y="800845"/>
                  </a:cubicBezTo>
                  <a:cubicBezTo>
                    <a:pt x="1429115" y="808500"/>
                    <a:pt x="1418733" y="812800"/>
                    <a:pt x="1407908" y="812800"/>
                  </a:cubicBezTo>
                  <a:lnTo>
                    <a:pt x="40816" y="812800"/>
                  </a:lnTo>
                  <a:cubicBezTo>
                    <a:pt x="29991" y="812800"/>
                    <a:pt x="19609" y="808500"/>
                    <a:pt x="11955" y="800845"/>
                  </a:cubicBezTo>
                  <a:cubicBezTo>
                    <a:pt x="4300" y="793191"/>
                    <a:pt x="0" y="782809"/>
                    <a:pt x="0" y="771984"/>
                  </a:cubicBezTo>
                  <a:lnTo>
                    <a:pt x="0" y="40816"/>
                  </a:lnTo>
                  <a:cubicBezTo>
                    <a:pt x="0" y="29991"/>
                    <a:pt x="4300" y="19609"/>
                    <a:pt x="11955" y="11955"/>
                  </a:cubicBezTo>
                  <a:cubicBezTo>
                    <a:pt x="19609" y="4300"/>
                    <a:pt x="29991" y="0"/>
                    <a:pt x="40816" y="0"/>
                  </a:cubicBezTo>
                  <a:close/>
                </a:path>
              </a:pathLst>
            </a:custGeom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1448724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69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6622269" y="4864891"/>
            <a:ext cx="5021842" cy="916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47"/>
              </a:lnSpc>
              <a:spcBef>
                <a:spcPct val="0"/>
              </a:spcBef>
            </a:pPr>
            <a:r>
              <a:rPr lang="en-US" b="true" sz="2700" strike="noStrike" u="none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Value Added Services (VAS) Lincensing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550484" y="5262689"/>
            <a:ext cx="2675069" cy="7288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5"/>
              </a:lnSpc>
              <a:spcBef>
                <a:spcPct val="0"/>
              </a:spcBef>
            </a:pPr>
            <a:r>
              <a:rPr lang="en-US" b="true" sz="2114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per mother enrolled (12-week period)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81050" y="7500457"/>
            <a:ext cx="3322082" cy="592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58"/>
              </a:lnSpc>
              <a:spcBef>
                <a:spcPct val="0"/>
              </a:spcBef>
            </a:pPr>
            <a:r>
              <a:rPr lang="en-US" b="true" sz="3500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Private Insurers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81050" y="8304194"/>
            <a:ext cx="5804977" cy="864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Premium maternity </a:t>
            </a:r>
            <a:r>
              <a:rPr lang="en-US" b="true" sz="2499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add-on </a:t>
            </a:r>
          </a:p>
          <a:p>
            <a:pPr algn="l">
              <a:lnSpc>
                <a:spcPts val="346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bundle fee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8202687" y="-8273496"/>
            <a:ext cx="1882625" cy="18307050"/>
            <a:chOff x="0" y="0"/>
            <a:chExt cx="2510167" cy="24409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10218" cy="24409400"/>
            </a:xfrm>
            <a:custGeom>
              <a:avLst/>
              <a:gdLst/>
              <a:ahLst/>
              <a:cxnLst/>
              <a:rect r="r" b="b" t="t" l="l"/>
              <a:pathLst>
                <a:path h="24409400" w="2510218">
                  <a:moveTo>
                    <a:pt x="0" y="0"/>
                  </a:moveTo>
                  <a:lnTo>
                    <a:pt x="2510218" y="0"/>
                  </a:lnTo>
                  <a:lnTo>
                    <a:pt x="2510218" y="24409400"/>
                  </a:lnTo>
                  <a:lnTo>
                    <a:pt x="0" y="24409400"/>
                  </a:lnTo>
                  <a:close/>
                </a:path>
              </a:pathLst>
            </a:custGeom>
            <a:solidFill>
              <a:srgbClr val="FF66C4"/>
            </a:solidFill>
            <a:ln w="19050" cap="sq">
              <a:solidFill>
                <a:srgbClr val="003882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612840" y="3350746"/>
            <a:ext cx="4133707" cy="971169"/>
            <a:chOff x="0" y="0"/>
            <a:chExt cx="5511609" cy="129489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511609" cy="1294885"/>
            </a:xfrm>
            <a:custGeom>
              <a:avLst/>
              <a:gdLst/>
              <a:ahLst/>
              <a:cxnLst/>
              <a:rect r="r" b="b" t="t" l="l"/>
              <a:pathLst>
                <a:path h="1294885" w="5511609">
                  <a:moveTo>
                    <a:pt x="0" y="0"/>
                  </a:moveTo>
                  <a:lnTo>
                    <a:pt x="5511609" y="0"/>
                  </a:lnTo>
                  <a:lnTo>
                    <a:pt x="5511609" y="1294885"/>
                  </a:lnTo>
                  <a:lnTo>
                    <a:pt x="0" y="129488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7908" r="-281580" b="-265033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57150"/>
              <a:ext cx="5511609" cy="1237742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5184"/>
                </a:lnSpc>
              </a:pPr>
              <a:r>
                <a:rPr lang="en-US" b="true" sz="4800" spc="-29">
                  <a:solidFill>
                    <a:srgbClr val="000000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SDG Alignment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5313445" y="7530108"/>
            <a:ext cx="13526712" cy="2777070"/>
          </a:xfrm>
          <a:custGeom>
            <a:avLst/>
            <a:gdLst/>
            <a:ahLst/>
            <a:cxnLst/>
            <a:rect r="r" b="b" t="t" l="l"/>
            <a:pathLst>
              <a:path h="2777070" w="13526712">
                <a:moveTo>
                  <a:pt x="0" y="0"/>
                </a:moveTo>
                <a:lnTo>
                  <a:pt x="13526713" y="0"/>
                </a:lnTo>
                <a:lnTo>
                  <a:pt x="13526713" y="2777069"/>
                </a:lnTo>
                <a:lnTo>
                  <a:pt x="0" y="277706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5313432" y="4675731"/>
            <a:ext cx="13526712" cy="2777070"/>
          </a:xfrm>
          <a:custGeom>
            <a:avLst/>
            <a:gdLst/>
            <a:ahLst/>
            <a:cxnLst/>
            <a:rect r="r" b="b" t="t" l="l"/>
            <a:pathLst>
              <a:path h="2777070" w="13526712">
                <a:moveTo>
                  <a:pt x="0" y="0"/>
                </a:moveTo>
                <a:lnTo>
                  <a:pt x="13526713" y="0"/>
                </a:lnTo>
                <a:lnTo>
                  <a:pt x="13526713" y="2777070"/>
                </a:lnTo>
                <a:lnTo>
                  <a:pt x="0" y="277707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279946" y="1821341"/>
            <a:ext cx="13526712" cy="2777070"/>
          </a:xfrm>
          <a:custGeom>
            <a:avLst/>
            <a:gdLst/>
            <a:ahLst/>
            <a:cxnLst/>
            <a:rect r="r" b="b" t="t" l="l"/>
            <a:pathLst>
              <a:path h="2777070" w="13526712">
                <a:moveTo>
                  <a:pt x="0" y="0"/>
                </a:moveTo>
                <a:lnTo>
                  <a:pt x="13526713" y="0"/>
                </a:lnTo>
                <a:lnTo>
                  <a:pt x="13526713" y="2777070"/>
                </a:lnTo>
                <a:lnTo>
                  <a:pt x="0" y="277707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813516" y="5141281"/>
            <a:ext cx="1872216" cy="1872216"/>
          </a:xfrm>
          <a:custGeom>
            <a:avLst/>
            <a:gdLst/>
            <a:ahLst/>
            <a:cxnLst/>
            <a:rect r="r" b="b" t="t" l="l"/>
            <a:pathLst>
              <a:path h="1872216" w="1872216">
                <a:moveTo>
                  <a:pt x="0" y="0"/>
                </a:moveTo>
                <a:lnTo>
                  <a:pt x="1872217" y="0"/>
                </a:lnTo>
                <a:lnTo>
                  <a:pt x="1872217" y="1872216"/>
                </a:lnTo>
                <a:lnTo>
                  <a:pt x="0" y="187221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6125545" y="7831132"/>
            <a:ext cx="1872216" cy="1872216"/>
          </a:xfrm>
          <a:custGeom>
            <a:avLst/>
            <a:gdLst/>
            <a:ahLst/>
            <a:cxnLst/>
            <a:rect r="r" b="b" t="t" l="l"/>
            <a:pathLst>
              <a:path h="1872216" w="1872216">
                <a:moveTo>
                  <a:pt x="0" y="0"/>
                </a:moveTo>
                <a:lnTo>
                  <a:pt x="1872216" y="0"/>
                </a:lnTo>
                <a:lnTo>
                  <a:pt x="1872216" y="1872216"/>
                </a:lnTo>
                <a:lnTo>
                  <a:pt x="0" y="187221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052970" y="2449699"/>
            <a:ext cx="1872216" cy="1872216"/>
          </a:xfrm>
          <a:custGeom>
            <a:avLst/>
            <a:gdLst/>
            <a:ahLst/>
            <a:cxnLst/>
            <a:rect r="r" b="b" t="t" l="l"/>
            <a:pathLst>
              <a:path h="1872216" w="1872216">
                <a:moveTo>
                  <a:pt x="0" y="0"/>
                </a:moveTo>
                <a:lnTo>
                  <a:pt x="1872216" y="0"/>
                </a:lnTo>
                <a:lnTo>
                  <a:pt x="1872216" y="1872216"/>
                </a:lnTo>
                <a:lnTo>
                  <a:pt x="0" y="187221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6359071" y="2755799"/>
            <a:ext cx="1260015" cy="1260015"/>
          </a:xfrm>
          <a:custGeom>
            <a:avLst/>
            <a:gdLst/>
            <a:ahLst/>
            <a:cxnLst/>
            <a:rect r="r" b="b" t="t" l="l"/>
            <a:pathLst>
              <a:path h="1260015" w="1260015">
                <a:moveTo>
                  <a:pt x="0" y="0"/>
                </a:moveTo>
                <a:lnTo>
                  <a:pt x="1260015" y="0"/>
                </a:lnTo>
                <a:lnTo>
                  <a:pt x="1260015" y="1260015"/>
                </a:lnTo>
                <a:lnTo>
                  <a:pt x="0" y="126001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6182747" y="5474711"/>
            <a:ext cx="1240261" cy="1110034"/>
          </a:xfrm>
          <a:custGeom>
            <a:avLst/>
            <a:gdLst/>
            <a:ahLst/>
            <a:cxnLst/>
            <a:rect r="r" b="b" t="t" l="l"/>
            <a:pathLst>
              <a:path h="1110034" w="1240261">
                <a:moveTo>
                  <a:pt x="0" y="0"/>
                </a:moveTo>
                <a:lnTo>
                  <a:pt x="1240261" y="0"/>
                </a:lnTo>
                <a:lnTo>
                  <a:pt x="1240261" y="1110034"/>
                </a:lnTo>
                <a:lnTo>
                  <a:pt x="0" y="1110034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6517564" y="8206877"/>
            <a:ext cx="1092319" cy="1021319"/>
          </a:xfrm>
          <a:custGeom>
            <a:avLst/>
            <a:gdLst/>
            <a:ahLst/>
            <a:cxnLst/>
            <a:rect r="r" b="b" t="t" l="l"/>
            <a:pathLst>
              <a:path h="1021319" w="1092319">
                <a:moveTo>
                  <a:pt x="0" y="0"/>
                </a:moveTo>
                <a:lnTo>
                  <a:pt x="1092319" y="0"/>
                </a:lnTo>
                <a:lnTo>
                  <a:pt x="1092319" y="1021319"/>
                </a:lnTo>
                <a:lnTo>
                  <a:pt x="0" y="1021319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87728" y="4421533"/>
            <a:ext cx="2285541" cy="2285541"/>
          </a:xfrm>
          <a:custGeom>
            <a:avLst/>
            <a:gdLst/>
            <a:ahLst/>
            <a:cxnLst/>
            <a:rect r="r" b="b" t="t" l="l"/>
            <a:pathLst>
              <a:path h="2285541" w="2285541">
                <a:moveTo>
                  <a:pt x="0" y="0"/>
                </a:moveTo>
                <a:lnTo>
                  <a:pt x="2285542" y="0"/>
                </a:lnTo>
                <a:lnTo>
                  <a:pt x="2285542" y="2285541"/>
                </a:lnTo>
                <a:lnTo>
                  <a:pt x="0" y="2285541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2597206" y="4442008"/>
            <a:ext cx="2244590" cy="2244590"/>
          </a:xfrm>
          <a:custGeom>
            <a:avLst/>
            <a:gdLst/>
            <a:ahLst/>
            <a:cxnLst/>
            <a:rect r="r" b="b" t="t" l="l"/>
            <a:pathLst>
              <a:path h="2244590" w="2244590">
                <a:moveTo>
                  <a:pt x="0" y="0"/>
                </a:moveTo>
                <a:lnTo>
                  <a:pt x="2244590" y="0"/>
                </a:lnTo>
                <a:lnTo>
                  <a:pt x="2244590" y="2244590"/>
                </a:lnTo>
                <a:lnTo>
                  <a:pt x="0" y="224459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230499" y="6939868"/>
            <a:ext cx="2318432" cy="2318432"/>
          </a:xfrm>
          <a:custGeom>
            <a:avLst/>
            <a:gdLst/>
            <a:ahLst/>
            <a:cxnLst/>
            <a:rect r="r" b="b" t="t" l="l"/>
            <a:pathLst>
              <a:path h="2318432" w="2318432">
                <a:moveTo>
                  <a:pt x="0" y="0"/>
                </a:moveTo>
                <a:lnTo>
                  <a:pt x="2318433" y="0"/>
                </a:lnTo>
                <a:lnTo>
                  <a:pt x="2318433" y="2318432"/>
                </a:lnTo>
                <a:lnTo>
                  <a:pt x="0" y="2318432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8039486" y="2063898"/>
            <a:ext cx="5818235" cy="584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45"/>
              </a:lnSpc>
              <a:spcBef>
                <a:spcPct val="0"/>
              </a:spcBef>
            </a:pPr>
            <a:r>
              <a:rPr lang="en-US" b="true" sz="3418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 Reduced Maternal M</a:t>
            </a:r>
            <a:r>
              <a:rPr lang="en-US" b="true" sz="3418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ortality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052970" y="4836536"/>
            <a:ext cx="9689134" cy="584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45"/>
              </a:lnSpc>
              <a:spcBef>
                <a:spcPct val="0"/>
              </a:spcBef>
            </a:pPr>
            <a:r>
              <a:rPr lang="en-US" b="true" sz="3418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Increased Maternal Health Service Productivity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633093" y="7881426"/>
            <a:ext cx="6093401" cy="584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45"/>
              </a:lnSpc>
              <a:spcBef>
                <a:spcPct val="0"/>
              </a:spcBef>
            </a:pPr>
            <a:r>
              <a:rPr lang="en-US" b="true" sz="3418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Bridges Infrastructure Barrier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232506" y="5401713"/>
            <a:ext cx="8251474" cy="1782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5"/>
              </a:lnSpc>
              <a:spcBef>
                <a:spcPct val="0"/>
              </a:spcBef>
            </a:pPr>
            <a:r>
              <a:rPr lang="en-US" sz="3418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Our system enables the health institutions manage large number of prenatal mothers at an increased efficiency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152569" y="2627096"/>
            <a:ext cx="8416415" cy="1782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5"/>
              </a:lnSpc>
              <a:spcBef>
                <a:spcPct val="0"/>
              </a:spcBef>
            </a:pPr>
            <a:r>
              <a:rPr lang="en-US" sz="3418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MM reduced</a:t>
            </a:r>
            <a:r>
              <a:rPr lang="en-US" sz="3418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with timely and continuous care. Voice Agent check-ins catches danger signs between visits before they're fatal.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572148" y="8465653"/>
            <a:ext cx="9241369" cy="17864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82"/>
              </a:lnSpc>
              <a:spcBef>
                <a:spcPct val="0"/>
              </a:spcBef>
            </a:pPr>
            <a:r>
              <a:rPr lang="en-US" sz="3445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Over 90%</a:t>
            </a:r>
            <a:r>
              <a:rPr lang="en-US" sz="3445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GSM reachable. Continous Maternal Care accessible to anyone irrespective of geographical locataion and respource 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40025" y="343700"/>
            <a:ext cx="5619045" cy="1350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797"/>
              </a:lnSpc>
            </a:pPr>
            <a:r>
              <a:rPr lang="en-US" sz="8799">
                <a:solidFill>
                  <a:srgbClr val="FFFEFF"/>
                </a:solidFill>
                <a:latin typeface="TAN St. Canard"/>
                <a:ea typeface="TAN St. Canard"/>
                <a:cs typeface="TAN St. Canard"/>
                <a:sym typeface="TAN St. Canard"/>
              </a:rPr>
              <a:t>IMPACT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1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273814" y="3157690"/>
            <a:ext cx="1703522" cy="1703522"/>
          </a:xfrm>
          <a:custGeom>
            <a:avLst/>
            <a:gdLst/>
            <a:ahLst/>
            <a:cxnLst/>
            <a:rect r="r" b="b" t="t" l="l"/>
            <a:pathLst>
              <a:path h="1703522" w="1703522">
                <a:moveTo>
                  <a:pt x="0" y="0"/>
                </a:moveTo>
                <a:lnTo>
                  <a:pt x="1703522" y="0"/>
                </a:lnTo>
                <a:lnTo>
                  <a:pt x="1703522" y="1703522"/>
                </a:lnTo>
                <a:lnTo>
                  <a:pt x="0" y="17035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77965" y="444664"/>
            <a:ext cx="5619045" cy="1350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797"/>
              </a:lnSpc>
            </a:pPr>
            <a:r>
              <a:rPr lang="en-US" sz="8799">
                <a:solidFill>
                  <a:srgbClr val="000000"/>
                </a:solidFill>
                <a:latin typeface="TAN St. Canard"/>
                <a:ea typeface="TAN St. Canard"/>
                <a:cs typeface="TAN St. Canard"/>
                <a:sym typeface="TAN St. Canard"/>
              </a:rPr>
              <a:t>THE ASK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043992" y="4724551"/>
            <a:ext cx="55137" cy="588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94"/>
              </a:lnSpc>
            </a:pPr>
            <a:r>
              <a:rPr lang="en-US" b="true" sz="2117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22897" y="2969274"/>
            <a:ext cx="3455437" cy="1382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78"/>
              </a:lnSpc>
              <a:spcBef>
                <a:spcPct val="0"/>
              </a:spcBef>
            </a:pPr>
            <a:r>
              <a:rPr lang="en-US" b="true" sz="4018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$50,000 Seed Round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22897" y="4451424"/>
            <a:ext cx="3455437" cy="676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78"/>
              </a:lnSpc>
              <a:spcBef>
                <a:spcPct val="0"/>
              </a:spcBef>
            </a:pPr>
            <a:r>
              <a:rPr lang="en-US" b="true" sz="4018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Mentorship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22897" y="6819718"/>
            <a:ext cx="4860821" cy="541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5"/>
              </a:lnSpc>
              <a:spcBef>
                <a:spcPct val="0"/>
              </a:spcBef>
            </a:pPr>
            <a:r>
              <a:rPr lang="en-US" b="true" sz="3238" u="sng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Value Inflection Point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857705" y="252714"/>
            <a:ext cx="13560322" cy="9927893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14307853" y="990600"/>
            <a:ext cx="3687848" cy="1581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77"/>
              </a:lnSpc>
              <a:spcBef>
                <a:spcPct val="0"/>
              </a:spcBef>
            </a:pPr>
            <a:r>
              <a:rPr lang="en-US" b="true" sz="2289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Integrating Voice APIs, building the hospital dashboard, and AI Agent Orchestration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147412" y="2534009"/>
            <a:ext cx="3687848" cy="382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77"/>
              </a:lnSpc>
              <a:spcBef>
                <a:spcPct val="0"/>
              </a:spcBef>
            </a:pPr>
            <a:r>
              <a:rPr lang="en-US" b="true" sz="2289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 H</a:t>
            </a:r>
            <a:r>
              <a:rPr lang="en-US" b="true" sz="2289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IPAA  compliance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133412" y="8475822"/>
            <a:ext cx="3687848" cy="782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77"/>
              </a:lnSpc>
              <a:spcBef>
                <a:spcPct val="0"/>
              </a:spcBef>
            </a:pPr>
            <a:r>
              <a:rPr lang="en-US" b="true" sz="2289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Funding Telco </a:t>
            </a:r>
            <a:r>
              <a:rPr lang="en-US" b="true" sz="2289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costs for pilot inbound calls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289173" y="181754"/>
            <a:ext cx="3228141" cy="636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11"/>
              </a:lnSpc>
              <a:spcBef>
                <a:spcPct val="0"/>
              </a:spcBef>
            </a:pPr>
            <a:r>
              <a:rPr lang="en-US" b="true" sz="3754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Use of Funds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77965" y="7561546"/>
            <a:ext cx="6217838" cy="1665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9187" indent="-349594" lvl="1">
              <a:lnSpc>
                <a:spcPts val="4495"/>
              </a:lnSpc>
              <a:buFont typeface="Arial"/>
              <a:buChar char="•"/>
            </a:pPr>
            <a:r>
              <a:rPr lang="en-US" b="true" sz="3238" i="true">
                <a:solidFill>
                  <a:srgbClr val="000000"/>
                </a:solidFill>
                <a:latin typeface="Red Hat Display Bold Italics"/>
                <a:ea typeface="Red Hat Display Bold Italics"/>
                <a:cs typeface="Red Hat Display Bold Italics"/>
                <a:sym typeface="Red Hat Display Bold Italics"/>
              </a:rPr>
              <a:t>Month 9 - converting our pilot into our first paying B2B hospital contract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1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50102" y="832247"/>
            <a:ext cx="5607129" cy="1390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17"/>
              </a:lnSpc>
            </a:pPr>
            <a:r>
              <a:rPr lang="en-US" b="true" sz="7726">
                <a:solidFill>
                  <a:srgbClr val="FF7501"/>
                </a:solidFill>
                <a:latin typeface="TAN St. Canard"/>
                <a:ea typeface="TAN St. Canard"/>
                <a:cs typeface="TAN St. Canard"/>
                <a:sym typeface="TAN St. Canard"/>
              </a:rPr>
              <a:t>OUR TEAM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2642861" y="2529964"/>
            <a:ext cx="4182415" cy="5152291"/>
            <a:chOff x="0" y="0"/>
            <a:chExt cx="4777384" cy="588523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777359" cy="5885180"/>
            </a:xfrm>
            <a:custGeom>
              <a:avLst/>
              <a:gdLst/>
              <a:ahLst/>
              <a:cxnLst/>
              <a:rect r="r" b="b" t="t" l="l"/>
              <a:pathLst>
                <a:path h="5885180" w="4777359">
                  <a:moveTo>
                    <a:pt x="0" y="0"/>
                  </a:moveTo>
                  <a:lnTo>
                    <a:pt x="4777359" y="0"/>
                  </a:lnTo>
                  <a:lnTo>
                    <a:pt x="4777359" y="5885180"/>
                  </a:lnTo>
                  <a:lnTo>
                    <a:pt x="0" y="58851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814" r="0" b="-1815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674936" y="2463777"/>
            <a:ext cx="4419324" cy="5166589"/>
            <a:chOff x="0" y="0"/>
            <a:chExt cx="5047996" cy="590156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47996" cy="5901563"/>
            </a:xfrm>
            <a:custGeom>
              <a:avLst/>
              <a:gdLst/>
              <a:ahLst/>
              <a:cxnLst/>
              <a:rect r="r" b="b" t="t" l="l"/>
              <a:pathLst>
                <a:path h="5901563" w="5047996">
                  <a:moveTo>
                    <a:pt x="190500" y="0"/>
                  </a:moveTo>
                  <a:cubicBezTo>
                    <a:pt x="85344" y="0"/>
                    <a:pt x="0" y="85344"/>
                    <a:pt x="0" y="190500"/>
                  </a:cubicBezTo>
                  <a:lnTo>
                    <a:pt x="0" y="5711063"/>
                  </a:lnTo>
                  <a:cubicBezTo>
                    <a:pt x="0" y="5814822"/>
                    <a:pt x="83058" y="5899277"/>
                    <a:pt x="186309" y="5901563"/>
                  </a:cubicBezTo>
                  <a:lnTo>
                    <a:pt x="4867021" y="5901563"/>
                  </a:lnTo>
                  <a:cubicBezTo>
                    <a:pt x="4954905" y="5899658"/>
                    <a:pt x="5028057" y="5838317"/>
                    <a:pt x="5047996" y="5756275"/>
                  </a:cubicBezTo>
                  <a:lnTo>
                    <a:pt x="5047996" y="145415"/>
                  </a:lnTo>
                  <a:cubicBezTo>
                    <a:pt x="5027676" y="61976"/>
                    <a:pt x="4952492" y="0"/>
                    <a:pt x="4862830" y="0"/>
                  </a:cubicBezTo>
                  <a:close/>
                </a:path>
              </a:pathLst>
            </a:custGeom>
            <a:blipFill>
              <a:blip r:embed="rId3"/>
              <a:stretch>
                <a:fillRect l="-5703" t="0" r="-5703" b="0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670389" y="2502335"/>
            <a:ext cx="4423827" cy="5166422"/>
          </a:xfrm>
          <a:custGeom>
            <a:avLst/>
            <a:gdLst/>
            <a:ahLst/>
            <a:cxnLst/>
            <a:rect r="r" b="b" t="t" l="l"/>
            <a:pathLst>
              <a:path h="5166422" w="4423827">
                <a:moveTo>
                  <a:pt x="0" y="0"/>
                </a:moveTo>
                <a:lnTo>
                  <a:pt x="4423827" y="0"/>
                </a:lnTo>
                <a:lnTo>
                  <a:pt x="4423827" y="5166423"/>
                </a:lnTo>
                <a:lnTo>
                  <a:pt x="0" y="51664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05" t="0" r="-105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6997794" y="2476752"/>
            <a:ext cx="4419324" cy="5166589"/>
            <a:chOff x="0" y="0"/>
            <a:chExt cx="5047996" cy="590156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047996" cy="5901563"/>
            </a:xfrm>
            <a:custGeom>
              <a:avLst/>
              <a:gdLst/>
              <a:ahLst/>
              <a:cxnLst/>
              <a:rect r="r" b="b" t="t" l="l"/>
              <a:pathLst>
                <a:path h="5901563" w="5047996">
                  <a:moveTo>
                    <a:pt x="190500" y="0"/>
                  </a:moveTo>
                  <a:cubicBezTo>
                    <a:pt x="85344" y="0"/>
                    <a:pt x="0" y="85344"/>
                    <a:pt x="0" y="190500"/>
                  </a:cubicBezTo>
                  <a:lnTo>
                    <a:pt x="0" y="5711063"/>
                  </a:lnTo>
                  <a:cubicBezTo>
                    <a:pt x="0" y="5814822"/>
                    <a:pt x="83058" y="5899277"/>
                    <a:pt x="186309" y="5901563"/>
                  </a:cubicBezTo>
                  <a:lnTo>
                    <a:pt x="4867021" y="5901563"/>
                  </a:lnTo>
                  <a:cubicBezTo>
                    <a:pt x="4954905" y="5899658"/>
                    <a:pt x="5028057" y="5838317"/>
                    <a:pt x="5047996" y="5756275"/>
                  </a:cubicBezTo>
                  <a:lnTo>
                    <a:pt x="5047996" y="145415"/>
                  </a:lnTo>
                  <a:cubicBezTo>
                    <a:pt x="5027676" y="61976"/>
                    <a:pt x="4952492" y="0"/>
                    <a:pt x="4862830" y="0"/>
                  </a:cubicBezTo>
                  <a:close/>
                </a:path>
              </a:pathLst>
            </a:custGeom>
            <a:blipFill>
              <a:blip r:embed="rId6"/>
              <a:stretch>
                <a:fillRect l="-8454" t="0" r="-8454" b="0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6997749" y="2444353"/>
            <a:ext cx="4423827" cy="5166422"/>
          </a:xfrm>
          <a:custGeom>
            <a:avLst/>
            <a:gdLst/>
            <a:ahLst/>
            <a:cxnLst/>
            <a:rect r="r" b="b" t="t" l="l"/>
            <a:pathLst>
              <a:path h="5166422" w="4423827">
                <a:moveTo>
                  <a:pt x="0" y="0"/>
                </a:moveTo>
                <a:lnTo>
                  <a:pt x="4423828" y="0"/>
                </a:lnTo>
                <a:lnTo>
                  <a:pt x="4423828" y="5166423"/>
                </a:lnTo>
                <a:lnTo>
                  <a:pt x="0" y="51664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105" t="0" r="-105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387178" y="7835573"/>
            <a:ext cx="3250874" cy="1231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99"/>
              </a:lnSpc>
            </a:pPr>
            <a:r>
              <a:rPr lang="en-US" sz="28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ROSEMOND OSEI</a:t>
            </a:r>
          </a:p>
          <a:p>
            <a:pPr algn="ctr">
              <a:lnSpc>
                <a:spcPts val="3116"/>
              </a:lnSpc>
            </a:pPr>
            <a:r>
              <a:rPr lang="en-US" sz="2566" b="true">
                <a:solidFill>
                  <a:srgbClr val="FF7501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</a:p>
          <a:p>
            <a:pPr algn="ctr">
              <a:lnSpc>
                <a:spcPts val="2889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6394367" y="7994988"/>
            <a:ext cx="5626166" cy="436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9"/>
              </a:lnSpc>
            </a:pPr>
            <a:r>
              <a:rPr lang="en-US" sz="2801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SAMUEL DANQUAH ANKAPONG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052133" y="8364662"/>
            <a:ext cx="1920974" cy="482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94"/>
              </a:lnSpc>
            </a:pPr>
            <a:r>
              <a:rPr lang="en-US" b="true" sz="2566" spc="9">
                <a:solidFill>
                  <a:srgbClr val="FF7501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TEAM LEAD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997749" y="8394137"/>
            <a:ext cx="3881841" cy="8588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94"/>
              </a:lnSpc>
            </a:pPr>
            <a:r>
              <a:rPr lang="en-US" b="true" sz="2566" spc="4">
                <a:solidFill>
                  <a:srgbClr val="FF7501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PRODUCT LEAD</a:t>
            </a:r>
          </a:p>
          <a:p>
            <a:pPr algn="ctr">
              <a:lnSpc>
                <a:spcPts val="2889"/>
              </a:lnSpc>
            </a:pPr>
            <a:r>
              <a:rPr lang="en-US" b="true" sz="2101" spc="3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  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19736" y="9155096"/>
            <a:ext cx="4925110" cy="775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5"/>
              </a:lnSpc>
            </a:pPr>
            <a:r>
              <a:rPr lang="en-US" sz="2122" b="true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Biomedical Engineer &amp; Public Health Expert with 3+ years of experience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458287" y="9155096"/>
            <a:ext cx="4925110" cy="775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5"/>
              </a:lnSpc>
            </a:pPr>
            <a:r>
              <a:rPr lang="en-US" sz="2122" b="true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Full stack AI/ML Engineer with 4+ years of experience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453127" y="7930124"/>
            <a:ext cx="4414966" cy="774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1"/>
              </a:lnSpc>
            </a:pPr>
            <a:r>
              <a:rPr lang="en-US" sz="2801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AMETEPI GRACE ABLA</a:t>
            </a:r>
          </a:p>
          <a:p>
            <a:pPr algn="l">
              <a:lnSpc>
                <a:spcPts val="3361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12387606" y="8364662"/>
            <a:ext cx="4737743" cy="866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94"/>
              </a:lnSpc>
            </a:pPr>
            <a:r>
              <a:rPr lang="en-US" b="true" sz="2566" spc="4">
                <a:solidFill>
                  <a:srgbClr val="FF7501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 HEALTH TECH INNOVATOR</a:t>
            </a:r>
          </a:p>
          <a:p>
            <a:pPr algn="ctr">
              <a:lnSpc>
                <a:spcPts val="2889"/>
              </a:lnSpc>
            </a:pPr>
            <a:r>
              <a:rPr lang="en-US" b="true" sz="2101" spc="3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  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239298" y="9177099"/>
            <a:ext cx="4925110" cy="394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5"/>
              </a:lnSpc>
            </a:pPr>
            <a:r>
              <a:rPr lang="en-US" sz="2122" b="true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2+ years of experience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89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62000" y="1542879"/>
            <a:ext cx="16764000" cy="7670168"/>
            <a:chOff x="0" y="0"/>
            <a:chExt cx="22352000" cy="102268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352000" cy="10226929"/>
            </a:xfrm>
            <a:custGeom>
              <a:avLst/>
              <a:gdLst/>
              <a:ahLst/>
              <a:cxnLst/>
              <a:rect r="r" b="b" t="t" l="l"/>
              <a:pathLst>
                <a:path h="10226929" w="22352000">
                  <a:moveTo>
                    <a:pt x="0" y="0"/>
                  </a:moveTo>
                  <a:lnTo>
                    <a:pt x="22352000" y="0"/>
                  </a:lnTo>
                  <a:lnTo>
                    <a:pt x="22352000" y="10226929"/>
                  </a:lnTo>
                  <a:lnTo>
                    <a:pt x="0" y="102269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86" b="-42186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309505" y="435988"/>
            <a:ext cx="15297817" cy="3199762"/>
            <a:chOff x="0" y="0"/>
            <a:chExt cx="15297810" cy="319976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97784" cy="3199766"/>
            </a:xfrm>
            <a:custGeom>
              <a:avLst/>
              <a:gdLst/>
              <a:ahLst/>
              <a:cxnLst/>
              <a:rect r="r" b="b" t="t" l="l"/>
              <a:pathLst>
                <a:path h="3199766" w="15297784">
                  <a:moveTo>
                    <a:pt x="0" y="3199766"/>
                  </a:moveTo>
                  <a:lnTo>
                    <a:pt x="0" y="2066291"/>
                  </a:lnTo>
                  <a:lnTo>
                    <a:pt x="0" y="0"/>
                  </a:lnTo>
                  <a:lnTo>
                    <a:pt x="9662413" y="0"/>
                  </a:lnTo>
                  <a:lnTo>
                    <a:pt x="9662413" y="1390651"/>
                  </a:lnTo>
                  <a:lnTo>
                    <a:pt x="15297784" y="1390651"/>
                  </a:lnTo>
                  <a:lnTo>
                    <a:pt x="15297784" y="3199766"/>
                  </a:lnTo>
                  <a:lnTo>
                    <a:pt x="0" y="3199766"/>
                  </a:lnTo>
                </a:path>
              </a:pathLst>
            </a:custGeom>
            <a:solidFill>
              <a:srgbClr val="F889D2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648919" y="7529684"/>
            <a:ext cx="6375740" cy="2360981"/>
            <a:chOff x="0" y="0"/>
            <a:chExt cx="6375743" cy="236098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375784" cy="2360930"/>
            </a:xfrm>
            <a:custGeom>
              <a:avLst/>
              <a:gdLst/>
              <a:ahLst/>
              <a:cxnLst/>
              <a:rect r="r" b="b" t="t" l="l"/>
              <a:pathLst>
                <a:path h="2360930" w="6375784">
                  <a:moveTo>
                    <a:pt x="0" y="2360930"/>
                  </a:moveTo>
                  <a:lnTo>
                    <a:pt x="0" y="1722755"/>
                  </a:lnTo>
                  <a:lnTo>
                    <a:pt x="0" y="1084580"/>
                  </a:lnTo>
                  <a:lnTo>
                    <a:pt x="0" y="0"/>
                  </a:lnTo>
                  <a:lnTo>
                    <a:pt x="6375784" y="0"/>
                  </a:lnTo>
                  <a:lnTo>
                    <a:pt x="6375784" y="1084580"/>
                  </a:lnTo>
                  <a:lnTo>
                    <a:pt x="6375784" y="1722755"/>
                  </a:lnTo>
                  <a:lnTo>
                    <a:pt x="2979675" y="1722755"/>
                  </a:lnTo>
                  <a:lnTo>
                    <a:pt x="2979675" y="2360930"/>
                  </a:lnTo>
                  <a:lnTo>
                    <a:pt x="0" y="2360930"/>
                  </a:lnTo>
                </a:path>
              </a:pathLst>
            </a:custGeom>
            <a:solidFill>
              <a:srgbClr val="F889D2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7076639" y="5377967"/>
            <a:ext cx="1211361" cy="1038054"/>
            <a:chOff x="0" y="0"/>
            <a:chExt cx="1211364" cy="103804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11327" cy="1038093"/>
            </a:xfrm>
            <a:custGeom>
              <a:avLst/>
              <a:gdLst/>
              <a:ahLst/>
              <a:cxnLst/>
              <a:rect r="r" b="b" t="t" l="l"/>
              <a:pathLst>
                <a:path h="1038093" w="1211327">
                  <a:moveTo>
                    <a:pt x="0" y="0"/>
                  </a:moveTo>
                  <a:lnTo>
                    <a:pt x="0" y="1038093"/>
                  </a:lnTo>
                  <a:lnTo>
                    <a:pt x="1211327" y="1038093"/>
                  </a:lnTo>
                  <a:lnTo>
                    <a:pt x="1211327" y="0"/>
                  </a:lnTo>
                  <a:close/>
                </a:path>
              </a:pathLst>
            </a:custGeom>
            <a:solidFill>
              <a:srgbClr val="84ADE8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756542" y="795328"/>
            <a:ext cx="14691874" cy="2842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319"/>
              </a:lnSpc>
            </a:pPr>
            <a:r>
              <a:rPr lang="en-US" b="true" sz="8799">
                <a:solidFill>
                  <a:srgbClr val="FCF1DB"/>
                </a:solidFill>
                <a:latin typeface="TAN St. Canard"/>
                <a:ea typeface="TAN St. Canard"/>
                <a:cs typeface="TAN St. Canard"/>
                <a:sym typeface="TAN St. Canard"/>
              </a:rPr>
              <a:t>LETS SUPPORT </a:t>
            </a:r>
          </a:p>
          <a:p>
            <a:pPr algn="l">
              <a:lnSpc>
                <a:spcPts val="10360"/>
              </a:lnSpc>
            </a:pPr>
            <a:r>
              <a:rPr lang="en-US" b="true" sz="7400">
                <a:solidFill>
                  <a:srgbClr val="FCF1DB"/>
                </a:solidFill>
                <a:latin typeface="TAN St. Canard"/>
                <a:ea typeface="TAN St. Canard"/>
                <a:cs typeface="TAN St. Canard"/>
                <a:sym typeface="TAN St. Canard"/>
              </a:rPr>
              <a:t>ABENA AND OTHER MOTHERS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80342" y="7714917"/>
            <a:ext cx="6344317" cy="1268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23"/>
              </a:lnSpc>
            </a:pPr>
            <a:r>
              <a:rPr lang="en-US" b="true" sz="4200" spc="4">
                <a:solidFill>
                  <a:srgbClr val="FCF1DB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“Supporting mothers every step of the way”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DAHPRxbYhEA</dc:identifier>
  <dcterms:modified xsi:type="dcterms:W3CDTF">2011-08-01T06:04:30Z</dcterms:modified>
  <cp:revision>1</cp:revision>
  <dc:title>Copy of SF .pdf</dc:title>
</cp:coreProperties>
</file>